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144" d="100"/>
          <a:sy n="144" d="100"/>
        </p:scale>
        <p:origin x="150"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bira\OneDrive\Desktop\BA\assignments\Excel\Project\Project-3(Bare%20International%20Analysis).xlsx"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C:\Users\abira\OneDrive\Desktop\BA\assignments\Excel\Project\Project-3(Bare%20International%20Analysis).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bira\OneDrive\Desktop\BA\assignments\Excel\Project\Project-3(Bare%20International%20Analysis).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bira\OneDrive\Desktop\BA\assignments\Excel\Project\Project-3(Bare%20International%20Analysis).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bira\OneDrive\Desktop\BA\assignments\Excel\Project\Project-3(Bare%20International%20Analysis).xlsx" TargetMode="External"/><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bira\OneDrive\Desktop\BA\assignments\Excel\Project\Project-3(Bare%20International%20Analysis).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[Project-3(Bare International Analysis).xlsx]Line Graph!PivotTable3</c:name>
    <c:fmtId val="16"/>
  </c:pivotSource>
  <c:chart>
    <c:title>
      <c:overlay val="0"/>
    </c:title>
    <c:autoTitleDeleted val="0"/>
    <c:pivotFmts>
      <c:pivotFmt>
        <c:idx val="0"/>
        <c:marker>
          <c:symbol val="none"/>
        </c:marker>
        <c:dLbl>
          <c:idx val="0"/>
          <c:delete val="1"/>
          <c:extLst>
            <c:ext xmlns:c15="http://schemas.microsoft.com/office/drawing/2012/chart" uri="{CE6537A1-D6FC-4f65-9D91-7224C49458BB}"/>
          </c:extLst>
        </c:dLbl>
      </c:pivotFmt>
      <c:pivotFmt>
        <c:idx val="1"/>
        <c:marker>
          <c:symbol val="none"/>
        </c:marker>
        <c:dLbl>
          <c:idx val="0"/>
          <c:delete val="1"/>
          <c:extLst>
            <c:ext xmlns:c15="http://schemas.microsoft.com/office/drawing/2012/chart" uri="{CE6537A1-D6FC-4f65-9D91-7224C49458BB}"/>
          </c:extLst>
        </c:dLbl>
      </c:pivotFmt>
      <c:pivotFmt>
        <c:idx val="2"/>
        <c:marker>
          <c:symbol val="none"/>
        </c:marker>
        <c:dLbl>
          <c:idx val="0"/>
          <c:delete val="1"/>
          <c:extLst>
            <c:ext xmlns:c15="http://schemas.microsoft.com/office/drawing/2012/chart" uri="{CE6537A1-D6FC-4f65-9D91-7224C49458BB}"/>
          </c:extLst>
        </c:dLbl>
      </c:pivotFmt>
    </c:pivotFmts>
    <c:plotArea>
      <c:layout>
        <c:manualLayout>
          <c:layoutTarget val="inner"/>
          <c:xMode val="edge"/>
          <c:yMode val="edge"/>
          <c:x val="0.15008938395524307"/>
          <c:y val="0.25505666703660806"/>
          <c:w val="0.63762096546924429"/>
          <c:h val="0.58318474563758427"/>
        </c:manualLayout>
      </c:layout>
      <c:barChart>
        <c:barDir val="col"/>
        <c:grouping val="clustered"/>
        <c:varyColors val="0"/>
        <c:ser>
          <c:idx val="0"/>
          <c:order val="0"/>
          <c:tx>
            <c:strRef>
              <c:f>'Line Graph'!$B$1</c:f>
              <c:strCache>
                <c:ptCount val="1"/>
                <c:pt idx="0">
                  <c:v>Total</c:v>
                </c:pt>
              </c:strCache>
            </c:strRef>
          </c:tx>
          <c:invertIfNegative val="0"/>
          <c:cat>
            <c:strRef>
              <c:f>'Line Graph'!$A$2:$A$6</c:f>
              <c:strCache>
                <c:ptCount val="4"/>
                <c:pt idx="0">
                  <c:v>East</c:v>
                </c:pt>
                <c:pt idx="1">
                  <c:v>North</c:v>
                </c:pt>
                <c:pt idx="2">
                  <c:v>South</c:v>
                </c:pt>
                <c:pt idx="3">
                  <c:v>West</c:v>
                </c:pt>
              </c:strCache>
            </c:strRef>
          </c:cat>
          <c:val>
            <c:numRef>
              <c:f>'Line Graph'!$B$2:$B$6</c:f>
              <c:numCache>
                <c:formatCode>0.00</c:formatCode>
                <c:ptCount val="4"/>
                <c:pt idx="0">
                  <c:v>71.571428571428569</c:v>
                </c:pt>
                <c:pt idx="1">
                  <c:v>76.736842105263165</c:v>
                </c:pt>
                <c:pt idx="2">
                  <c:v>66.611111111111114</c:v>
                </c:pt>
                <c:pt idx="3">
                  <c:v>71.82352941176471</c:v>
                </c:pt>
              </c:numCache>
            </c:numRef>
          </c:val>
          <c:extLst>
            <c:ext xmlns:c16="http://schemas.microsoft.com/office/drawing/2014/chart" uri="{C3380CC4-5D6E-409C-BE32-E72D297353CC}">
              <c16:uniqueId val="{00000000-EEDA-4061-B191-0F52AC9AE92F}"/>
            </c:ext>
          </c:extLst>
        </c:ser>
        <c:dLbls>
          <c:showLegendKey val="0"/>
          <c:showVal val="0"/>
          <c:showCatName val="0"/>
          <c:showSerName val="0"/>
          <c:showPercent val="0"/>
          <c:showBubbleSize val="0"/>
        </c:dLbls>
        <c:gapWidth val="150"/>
        <c:axId val="220480256"/>
        <c:axId val="220481792"/>
      </c:barChart>
      <c:catAx>
        <c:axId val="220480256"/>
        <c:scaling>
          <c:orientation val="minMax"/>
        </c:scaling>
        <c:delete val="0"/>
        <c:axPos val="b"/>
        <c:numFmt formatCode="General" sourceLinked="0"/>
        <c:majorTickMark val="out"/>
        <c:minorTickMark val="none"/>
        <c:tickLblPos val="nextTo"/>
        <c:crossAx val="220481792"/>
        <c:crosses val="autoZero"/>
        <c:auto val="1"/>
        <c:lblAlgn val="ctr"/>
        <c:lblOffset val="100"/>
        <c:noMultiLvlLbl val="0"/>
      </c:catAx>
      <c:valAx>
        <c:axId val="220481792"/>
        <c:scaling>
          <c:orientation val="minMax"/>
        </c:scaling>
        <c:delete val="0"/>
        <c:axPos val="l"/>
        <c:majorGridlines/>
        <c:numFmt formatCode="0.00" sourceLinked="1"/>
        <c:majorTickMark val="out"/>
        <c:minorTickMark val="none"/>
        <c:tickLblPos val="nextTo"/>
        <c:crossAx val="220480256"/>
        <c:crosses val="autoZero"/>
        <c:crossBetween val="between"/>
      </c:valAx>
    </c:plotArea>
    <c:legend>
      <c:legendPos val="r"/>
      <c:overlay val="0"/>
    </c:legend>
    <c:plotVisOnly val="1"/>
    <c:dispBlanksAs val="gap"/>
    <c:showDLblsOverMax val="0"/>
  </c:chart>
  <c:spPr>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sp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[Project-3(Bare International Analysis).xlsx]Pie chart!PivotTable3</c:name>
    <c:fmtId val="4"/>
  </c:pivotSource>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LID4096"/>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s>
    <c:plotArea>
      <c:layout/>
      <c:pieChart>
        <c:varyColors val="1"/>
        <c:ser>
          <c:idx val="0"/>
          <c:order val="0"/>
          <c:tx>
            <c:strRef>
              <c:f>'Pie chart'!$B$11</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F14-4313-AEB3-19FC17E881F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F14-4313-AEB3-19FC17E881F5}"/>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F14-4313-AEB3-19FC17E881F5}"/>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F14-4313-AEB3-19FC17E881F5}"/>
              </c:ext>
            </c:extLst>
          </c:dPt>
          <c:cat>
            <c:multiLvlStrRef>
              <c:f>'Pie chart'!$A$12:$A$20</c:f>
              <c:multiLvlStrCache>
                <c:ptCount val="4"/>
                <c:lvl>
                  <c:pt idx="0">
                    <c:v>High Performer</c:v>
                  </c:pt>
                  <c:pt idx="1">
                    <c:v>High Performer</c:v>
                  </c:pt>
                  <c:pt idx="2">
                    <c:v>High Performer</c:v>
                  </c:pt>
                  <c:pt idx="3">
                    <c:v>High Performer</c:v>
                  </c:pt>
                </c:lvl>
                <c:lvl>
                  <c:pt idx="0">
                    <c:v>East</c:v>
                  </c:pt>
                  <c:pt idx="1">
                    <c:v>North</c:v>
                  </c:pt>
                  <c:pt idx="2">
                    <c:v>South</c:v>
                  </c:pt>
                  <c:pt idx="3">
                    <c:v>West</c:v>
                  </c:pt>
                </c:lvl>
              </c:multiLvlStrCache>
            </c:multiLvlStrRef>
          </c:cat>
          <c:val>
            <c:numRef>
              <c:f>'Pie chart'!$B$12:$B$20</c:f>
              <c:numCache>
                <c:formatCode>General</c:formatCode>
                <c:ptCount val="4"/>
                <c:pt idx="0">
                  <c:v>2</c:v>
                </c:pt>
                <c:pt idx="1">
                  <c:v>4</c:v>
                </c:pt>
                <c:pt idx="2">
                  <c:v>2</c:v>
                </c:pt>
                <c:pt idx="3">
                  <c:v>2</c:v>
                </c:pt>
              </c:numCache>
            </c:numRef>
          </c:val>
          <c:extLst>
            <c:ext xmlns:c16="http://schemas.microsoft.com/office/drawing/2014/chart" uri="{C3380CC4-5D6E-409C-BE32-E72D297353CC}">
              <c16:uniqueId val="{00000008-CF14-4313-AEB3-19FC17E881F5}"/>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LID4096"/>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[Project-3(Bare International Analysis).xlsx]Line Graph!PivotTable6</c:name>
    <c:fmtId val="3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EAST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LID4096"/>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2"/>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3"/>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4"/>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5"/>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6"/>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7"/>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8"/>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9"/>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10"/>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11"/>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12"/>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13"/>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14"/>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15"/>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16"/>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17"/>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18"/>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19"/>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20"/>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21"/>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pivotFmt>
      <c:pivotFmt>
        <c:idx val="2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'Line Graph'!$B$17</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'Line Graph'!$A$18:$A$25</c:f>
              <c:strCache>
                <c:ptCount val="7"/>
                <c:pt idx="0">
                  <c:v>2022-10-07</c:v>
                </c:pt>
                <c:pt idx="1">
                  <c:v>2022-10-10</c:v>
                </c:pt>
                <c:pt idx="2">
                  <c:v>2022-10-13</c:v>
                </c:pt>
                <c:pt idx="3">
                  <c:v>2022-10-15</c:v>
                </c:pt>
                <c:pt idx="4">
                  <c:v>2022-10-18</c:v>
                </c:pt>
                <c:pt idx="5">
                  <c:v>2022-10-20</c:v>
                </c:pt>
                <c:pt idx="6">
                  <c:v>2022-10-28</c:v>
                </c:pt>
              </c:strCache>
            </c:strRef>
          </c:cat>
          <c:val>
            <c:numRef>
              <c:f>'Line Graph'!$B$18:$B$25</c:f>
              <c:numCache>
                <c:formatCode>0.00</c:formatCode>
                <c:ptCount val="7"/>
                <c:pt idx="0">
                  <c:v>83</c:v>
                </c:pt>
                <c:pt idx="1">
                  <c:v>64</c:v>
                </c:pt>
                <c:pt idx="2">
                  <c:v>62</c:v>
                </c:pt>
                <c:pt idx="3">
                  <c:v>41</c:v>
                </c:pt>
                <c:pt idx="4">
                  <c:v>94</c:v>
                </c:pt>
                <c:pt idx="5">
                  <c:v>96</c:v>
                </c:pt>
                <c:pt idx="6">
                  <c:v>61</c:v>
                </c:pt>
              </c:numCache>
            </c:numRef>
          </c:val>
          <c:smooth val="0"/>
          <c:extLst>
            <c:ext xmlns:c16="http://schemas.microsoft.com/office/drawing/2014/chart" uri="{C3380CC4-5D6E-409C-BE32-E72D297353CC}">
              <c16:uniqueId val="{00000000-44D2-4510-A9DF-EF2FF16F8E75}"/>
            </c:ext>
          </c:extLst>
        </c:ser>
        <c:dLbls>
          <c:showLegendKey val="0"/>
          <c:showVal val="0"/>
          <c:showCatName val="0"/>
          <c:showSerName val="0"/>
          <c:showPercent val="0"/>
          <c:showBubbleSize val="0"/>
        </c:dLbls>
        <c:marker val="1"/>
        <c:smooth val="0"/>
        <c:axId val="1981442111"/>
        <c:axId val="1981446431"/>
      </c:lineChart>
      <c:catAx>
        <c:axId val="19814421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981446431"/>
        <c:crosses val="autoZero"/>
        <c:auto val="1"/>
        <c:lblAlgn val="ctr"/>
        <c:lblOffset val="100"/>
        <c:noMultiLvlLbl val="0"/>
      </c:catAx>
      <c:valAx>
        <c:axId val="1981446431"/>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98144211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LID4096"/>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[Project-3(Bare International Analysis).xlsx]Line Graph!PivotTable7</c:name>
    <c:fmtId val="3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WEST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LID4096"/>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'Line Graph'!$B$29</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'Line Graph'!$A$30:$A$39</c:f>
              <c:strCache>
                <c:ptCount val="9"/>
                <c:pt idx="0">
                  <c:v>2022-10-06</c:v>
                </c:pt>
                <c:pt idx="1">
                  <c:v>2022-10-07</c:v>
                </c:pt>
                <c:pt idx="2">
                  <c:v>2022-10-08</c:v>
                </c:pt>
                <c:pt idx="3">
                  <c:v>2022-10-11</c:v>
                </c:pt>
                <c:pt idx="4">
                  <c:v>2022-10-12</c:v>
                </c:pt>
                <c:pt idx="5">
                  <c:v>2022-10-15</c:v>
                </c:pt>
                <c:pt idx="6">
                  <c:v>2022-10-17</c:v>
                </c:pt>
                <c:pt idx="7">
                  <c:v>2022-10-18</c:v>
                </c:pt>
                <c:pt idx="8">
                  <c:v>2022-10-29</c:v>
                </c:pt>
              </c:strCache>
            </c:strRef>
          </c:cat>
          <c:val>
            <c:numRef>
              <c:f>'Line Graph'!$B$30:$B$39</c:f>
              <c:numCache>
                <c:formatCode>0.00</c:formatCode>
                <c:ptCount val="9"/>
                <c:pt idx="0">
                  <c:v>57</c:v>
                </c:pt>
                <c:pt idx="1">
                  <c:v>80</c:v>
                </c:pt>
                <c:pt idx="2">
                  <c:v>78.25</c:v>
                </c:pt>
                <c:pt idx="3">
                  <c:v>64.333333333333329</c:v>
                </c:pt>
                <c:pt idx="4">
                  <c:v>80</c:v>
                </c:pt>
                <c:pt idx="5">
                  <c:v>84</c:v>
                </c:pt>
                <c:pt idx="6">
                  <c:v>86</c:v>
                </c:pt>
                <c:pt idx="7">
                  <c:v>63</c:v>
                </c:pt>
                <c:pt idx="8">
                  <c:v>65</c:v>
                </c:pt>
              </c:numCache>
            </c:numRef>
          </c:val>
          <c:smooth val="0"/>
          <c:extLst>
            <c:ext xmlns:c16="http://schemas.microsoft.com/office/drawing/2014/chart" uri="{C3380CC4-5D6E-409C-BE32-E72D297353CC}">
              <c16:uniqueId val="{00000000-C0DC-485D-B1A6-5F493BB9F875}"/>
            </c:ext>
          </c:extLst>
        </c:ser>
        <c:dLbls>
          <c:showLegendKey val="0"/>
          <c:showVal val="0"/>
          <c:showCatName val="0"/>
          <c:showSerName val="0"/>
          <c:showPercent val="0"/>
          <c:showBubbleSize val="0"/>
        </c:dLbls>
        <c:marker val="1"/>
        <c:smooth val="0"/>
        <c:axId val="150557807"/>
        <c:axId val="150567887"/>
      </c:lineChart>
      <c:catAx>
        <c:axId val="1505578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50567887"/>
        <c:crosses val="autoZero"/>
        <c:auto val="1"/>
        <c:lblAlgn val="ctr"/>
        <c:lblOffset val="100"/>
        <c:noMultiLvlLbl val="0"/>
      </c:catAx>
      <c:valAx>
        <c:axId val="150567887"/>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5055780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LID4096"/>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[Project-3(Bare International Analysis).xlsx]Line Graph!PivotTable8</c:name>
    <c:fmtId val="3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NORTH</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LID4096"/>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'Line Graph'!$B$43</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'Line Graph'!$A$44:$A$54</c:f>
              <c:strCache>
                <c:ptCount val="10"/>
                <c:pt idx="0">
                  <c:v>2022-10-01</c:v>
                </c:pt>
                <c:pt idx="1">
                  <c:v>2022-10-06</c:v>
                </c:pt>
                <c:pt idx="2">
                  <c:v>2022-10-08</c:v>
                </c:pt>
                <c:pt idx="3">
                  <c:v>2022-10-10</c:v>
                </c:pt>
                <c:pt idx="4">
                  <c:v>2022-10-11</c:v>
                </c:pt>
                <c:pt idx="5">
                  <c:v>2022-10-14</c:v>
                </c:pt>
                <c:pt idx="6">
                  <c:v>2022-10-16</c:v>
                </c:pt>
                <c:pt idx="7">
                  <c:v>2022-10-18</c:v>
                </c:pt>
                <c:pt idx="8">
                  <c:v>2022-10-20</c:v>
                </c:pt>
                <c:pt idx="9">
                  <c:v>2022-10-27</c:v>
                </c:pt>
              </c:strCache>
            </c:strRef>
          </c:cat>
          <c:val>
            <c:numRef>
              <c:f>'Line Graph'!$B$44:$B$54</c:f>
              <c:numCache>
                <c:formatCode>0.00</c:formatCode>
                <c:ptCount val="10"/>
                <c:pt idx="0">
                  <c:v>58</c:v>
                </c:pt>
                <c:pt idx="1">
                  <c:v>80</c:v>
                </c:pt>
                <c:pt idx="2">
                  <c:v>68.666666666666671</c:v>
                </c:pt>
                <c:pt idx="3">
                  <c:v>85</c:v>
                </c:pt>
                <c:pt idx="4">
                  <c:v>94</c:v>
                </c:pt>
                <c:pt idx="5">
                  <c:v>72</c:v>
                </c:pt>
                <c:pt idx="6">
                  <c:v>69</c:v>
                </c:pt>
                <c:pt idx="7">
                  <c:v>84</c:v>
                </c:pt>
                <c:pt idx="8">
                  <c:v>88</c:v>
                </c:pt>
                <c:pt idx="9">
                  <c:v>94</c:v>
                </c:pt>
              </c:numCache>
            </c:numRef>
          </c:val>
          <c:smooth val="0"/>
          <c:extLst>
            <c:ext xmlns:c16="http://schemas.microsoft.com/office/drawing/2014/chart" uri="{C3380CC4-5D6E-409C-BE32-E72D297353CC}">
              <c16:uniqueId val="{00000000-1472-4322-A619-B96DFB62A296}"/>
            </c:ext>
          </c:extLst>
        </c:ser>
        <c:dLbls>
          <c:showLegendKey val="0"/>
          <c:showVal val="0"/>
          <c:showCatName val="0"/>
          <c:showSerName val="0"/>
          <c:showPercent val="0"/>
          <c:showBubbleSize val="0"/>
        </c:dLbls>
        <c:marker val="1"/>
        <c:smooth val="0"/>
        <c:axId val="150579407"/>
        <c:axId val="150579887"/>
      </c:lineChart>
      <c:catAx>
        <c:axId val="1505794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50579887"/>
        <c:crosses val="autoZero"/>
        <c:auto val="1"/>
        <c:lblAlgn val="ctr"/>
        <c:lblOffset val="100"/>
        <c:noMultiLvlLbl val="0"/>
      </c:catAx>
      <c:valAx>
        <c:axId val="150579887"/>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5057940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LID4096"/>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[Project-3(Bare International Analysis).xlsx]Line Graph!PivotTable9</c:name>
    <c:fmtId val="3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SOUTH</a:t>
            </a:r>
          </a:p>
        </c:rich>
      </c:tx>
      <c:layout>
        <c:manualLayout>
          <c:xMode val="edge"/>
          <c:yMode val="edge"/>
          <c:x val="0.39957689302766569"/>
          <c:y val="5.230498813839324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LID4096"/>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'Line Graph'!$B$58</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'Line Graph'!$A$59:$A$72</c:f>
              <c:strCache>
                <c:ptCount val="13"/>
                <c:pt idx="0">
                  <c:v>2022-10-07</c:v>
                </c:pt>
                <c:pt idx="1">
                  <c:v>2022-10-08</c:v>
                </c:pt>
                <c:pt idx="2">
                  <c:v>2022-10-11</c:v>
                </c:pt>
                <c:pt idx="3">
                  <c:v>2022-10-12</c:v>
                </c:pt>
                <c:pt idx="4">
                  <c:v>2022-10-13</c:v>
                </c:pt>
                <c:pt idx="5">
                  <c:v>2022-10-15</c:v>
                </c:pt>
                <c:pt idx="6">
                  <c:v>2022-10-18</c:v>
                </c:pt>
                <c:pt idx="7">
                  <c:v>2022-10-19</c:v>
                </c:pt>
                <c:pt idx="8">
                  <c:v>2022-10-21</c:v>
                </c:pt>
                <c:pt idx="9">
                  <c:v>2022-10-22</c:v>
                </c:pt>
                <c:pt idx="10">
                  <c:v>2022-10-23</c:v>
                </c:pt>
                <c:pt idx="11">
                  <c:v>2022-10-28</c:v>
                </c:pt>
                <c:pt idx="12">
                  <c:v>2022-10-30</c:v>
                </c:pt>
              </c:strCache>
            </c:strRef>
          </c:cat>
          <c:val>
            <c:numRef>
              <c:f>'Line Graph'!$B$59:$B$72</c:f>
              <c:numCache>
                <c:formatCode>0.00</c:formatCode>
                <c:ptCount val="13"/>
                <c:pt idx="0">
                  <c:v>94</c:v>
                </c:pt>
                <c:pt idx="1">
                  <c:v>71.5</c:v>
                </c:pt>
                <c:pt idx="2">
                  <c:v>78</c:v>
                </c:pt>
                <c:pt idx="3">
                  <c:v>90</c:v>
                </c:pt>
                <c:pt idx="4">
                  <c:v>65</c:v>
                </c:pt>
                <c:pt idx="5">
                  <c:v>69.5</c:v>
                </c:pt>
                <c:pt idx="6">
                  <c:v>56</c:v>
                </c:pt>
                <c:pt idx="7">
                  <c:v>52</c:v>
                </c:pt>
                <c:pt idx="8">
                  <c:v>71</c:v>
                </c:pt>
                <c:pt idx="9">
                  <c:v>69</c:v>
                </c:pt>
                <c:pt idx="10">
                  <c:v>53</c:v>
                </c:pt>
                <c:pt idx="11">
                  <c:v>88</c:v>
                </c:pt>
                <c:pt idx="12">
                  <c:v>48.333333333333336</c:v>
                </c:pt>
              </c:numCache>
            </c:numRef>
          </c:val>
          <c:smooth val="0"/>
          <c:extLst>
            <c:ext xmlns:c16="http://schemas.microsoft.com/office/drawing/2014/chart" uri="{C3380CC4-5D6E-409C-BE32-E72D297353CC}">
              <c16:uniqueId val="{00000000-9B33-4B5C-B2C5-BA5A89F7C258}"/>
            </c:ext>
          </c:extLst>
        </c:ser>
        <c:dLbls>
          <c:showLegendKey val="0"/>
          <c:showVal val="0"/>
          <c:showCatName val="0"/>
          <c:showSerName val="0"/>
          <c:showPercent val="0"/>
          <c:showBubbleSize val="0"/>
        </c:dLbls>
        <c:marker val="1"/>
        <c:smooth val="0"/>
        <c:axId val="150585167"/>
        <c:axId val="150583727"/>
      </c:lineChart>
      <c:catAx>
        <c:axId val="1505851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50583727"/>
        <c:crosses val="autoZero"/>
        <c:auto val="1"/>
        <c:lblAlgn val="ctr"/>
        <c:lblOffset val="100"/>
        <c:noMultiLvlLbl val="0"/>
      </c:catAx>
      <c:valAx>
        <c:axId val="150583727"/>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5058516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LID4096"/>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F8043-AAE1-0014-060E-6C095DC7E3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C8F0E6C0-A70D-2EE3-387C-5DE8DCE5CC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30B70079-1108-E65F-910E-C04E92856C01}"/>
              </a:ext>
            </a:extLst>
          </p:cNvPr>
          <p:cNvSpPr>
            <a:spLocks noGrp="1"/>
          </p:cNvSpPr>
          <p:nvPr>
            <p:ph type="dt" sz="half" idx="10"/>
          </p:nvPr>
        </p:nvSpPr>
        <p:spPr/>
        <p:txBody>
          <a:bodyPr/>
          <a:lstStyle/>
          <a:p>
            <a:fld id="{627E113D-22E0-464C-BB0B-906E3E7C589E}" type="datetimeFigureOut">
              <a:rPr lang="LID4096" smtClean="0"/>
              <a:t>10/14/2025</a:t>
            </a:fld>
            <a:endParaRPr lang="LID4096"/>
          </a:p>
        </p:txBody>
      </p:sp>
      <p:sp>
        <p:nvSpPr>
          <p:cNvPr id="5" name="Footer Placeholder 4">
            <a:extLst>
              <a:ext uri="{FF2B5EF4-FFF2-40B4-BE49-F238E27FC236}">
                <a16:creationId xmlns:a16="http://schemas.microsoft.com/office/drawing/2014/main" id="{786D850D-40EF-DEDC-D9F9-88E49A610C5E}"/>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65D80C70-2B7F-0F6D-F488-2598C2803766}"/>
              </a:ext>
            </a:extLst>
          </p:cNvPr>
          <p:cNvSpPr>
            <a:spLocks noGrp="1"/>
          </p:cNvSpPr>
          <p:nvPr>
            <p:ph type="sldNum" sz="quarter" idx="12"/>
          </p:nvPr>
        </p:nvSpPr>
        <p:spPr/>
        <p:txBody>
          <a:bodyPr/>
          <a:lstStyle/>
          <a:p>
            <a:fld id="{855425F4-EA5D-4F60-A179-A34BFE292F86}" type="slidenum">
              <a:rPr lang="LID4096" smtClean="0"/>
              <a:t>‹#›</a:t>
            </a:fld>
            <a:endParaRPr lang="LID4096"/>
          </a:p>
        </p:txBody>
      </p:sp>
    </p:spTree>
    <p:extLst>
      <p:ext uri="{BB962C8B-B14F-4D97-AF65-F5344CB8AC3E}">
        <p14:creationId xmlns:p14="http://schemas.microsoft.com/office/powerpoint/2010/main" val="1249654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4B305-517C-753E-0F47-F880791BA838}"/>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39BFFE9E-7F86-EEF5-65B3-D2AA3535E9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97920A4B-BA94-007C-60EE-62009C50BB50}"/>
              </a:ext>
            </a:extLst>
          </p:cNvPr>
          <p:cNvSpPr>
            <a:spLocks noGrp="1"/>
          </p:cNvSpPr>
          <p:nvPr>
            <p:ph type="dt" sz="half" idx="10"/>
          </p:nvPr>
        </p:nvSpPr>
        <p:spPr/>
        <p:txBody>
          <a:bodyPr/>
          <a:lstStyle/>
          <a:p>
            <a:fld id="{627E113D-22E0-464C-BB0B-906E3E7C589E}" type="datetimeFigureOut">
              <a:rPr lang="LID4096" smtClean="0"/>
              <a:t>10/14/2025</a:t>
            </a:fld>
            <a:endParaRPr lang="LID4096"/>
          </a:p>
        </p:txBody>
      </p:sp>
      <p:sp>
        <p:nvSpPr>
          <p:cNvPr id="5" name="Footer Placeholder 4">
            <a:extLst>
              <a:ext uri="{FF2B5EF4-FFF2-40B4-BE49-F238E27FC236}">
                <a16:creationId xmlns:a16="http://schemas.microsoft.com/office/drawing/2014/main" id="{F6E4D5EC-8692-97BE-DF72-D2857F472D44}"/>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84A1308-58C7-7B94-B5CA-3E224A98F9D2}"/>
              </a:ext>
            </a:extLst>
          </p:cNvPr>
          <p:cNvSpPr>
            <a:spLocks noGrp="1"/>
          </p:cNvSpPr>
          <p:nvPr>
            <p:ph type="sldNum" sz="quarter" idx="12"/>
          </p:nvPr>
        </p:nvSpPr>
        <p:spPr/>
        <p:txBody>
          <a:bodyPr/>
          <a:lstStyle/>
          <a:p>
            <a:fld id="{855425F4-EA5D-4F60-A179-A34BFE292F86}" type="slidenum">
              <a:rPr lang="LID4096" smtClean="0"/>
              <a:t>‹#›</a:t>
            </a:fld>
            <a:endParaRPr lang="LID4096"/>
          </a:p>
        </p:txBody>
      </p:sp>
    </p:spTree>
    <p:extLst>
      <p:ext uri="{BB962C8B-B14F-4D97-AF65-F5344CB8AC3E}">
        <p14:creationId xmlns:p14="http://schemas.microsoft.com/office/powerpoint/2010/main" val="3982844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ECD69-D5ED-E467-FDAD-D689BD0360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B62B7F52-871E-07BF-323F-AB5F5C4D76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D876E6-3167-D6CB-9F2A-19CD19E59621}"/>
              </a:ext>
            </a:extLst>
          </p:cNvPr>
          <p:cNvSpPr>
            <a:spLocks noGrp="1"/>
          </p:cNvSpPr>
          <p:nvPr>
            <p:ph type="dt" sz="half" idx="10"/>
          </p:nvPr>
        </p:nvSpPr>
        <p:spPr/>
        <p:txBody>
          <a:bodyPr/>
          <a:lstStyle/>
          <a:p>
            <a:fld id="{627E113D-22E0-464C-BB0B-906E3E7C589E}" type="datetimeFigureOut">
              <a:rPr lang="LID4096" smtClean="0"/>
              <a:t>10/14/2025</a:t>
            </a:fld>
            <a:endParaRPr lang="LID4096"/>
          </a:p>
        </p:txBody>
      </p:sp>
      <p:sp>
        <p:nvSpPr>
          <p:cNvPr id="5" name="Footer Placeholder 4">
            <a:extLst>
              <a:ext uri="{FF2B5EF4-FFF2-40B4-BE49-F238E27FC236}">
                <a16:creationId xmlns:a16="http://schemas.microsoft.com/office/drawing/2014/main" id="{AE516203-2077-781B-5E1C-1CED90E32ED5}"/>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B67FCC42-CED2-3F0B-01B5-4CCB47BE0601}"/>
              </a:ext>
            </a:extLst>
          </p:cNvPr>
          <p:cNvSpPr>
            <a:spLocks noGrp="1"/>
          </p:cNvSpPr>
          <p:nvPr>
            <p:ph type="sldNum" sz="quarter" idx="12"/>
          </p:nvPr>
        </p:nvSpPr>
        <p:spPr/>
        <p:txBody>
          <a:bodyPr/>
          <a:lstStyle/>
          <a:p>
            <a:fld id="{855425F4-EA5D-4F60-A179-A34BFE292F86}" type="slidenum">
              <a:rPr lang="LID4096" smtClean="0"/>
              <a:t>‹#›</a:t>
            </a:fld>
            <a:endParaRPr lang="LID4096"/>
          </a:p>
        </p:txBody>
      </p:sp>
    </p:spTree>
    <p:extLst>
      <p:ext uri="{BB962C8B-B14F-4D97-AF65-F5344CB8AC3E}">
        <p14:creationId xmlns:p14="http://schemas.microsoft.com/office/powerpoint/2010/main" val="1841964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EAF2B-E826-7C7F-B515-B7ECD56A3D1B}"/>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1B439206-9475-8519-3ACD-84D009BEBE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F30544BD-4ECA-8A03-FEB1-76F1E7E5A0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6B690274-FE5D-E127-2CC1-7C01C89A50D1}"/>
              </a:ext>
            </a:extLst>
          </p:cNvPr>
          <p:cNvSpPr>
            <a:spLocks noGrp="1"/>
          </p:cNvSpPr>
          <p:nvPr>
            <p:ph type="dt" sz="half" idx="10"/>
          </p:nvPr>
        </p:nvSpPr>
        <p:spPr/>
        <p:txBody>
          <a:bodyPr/>
          <a:lstStyle/>
          <a:p>
            <a:fld id="{627E113D-22E0-464C-BB0B-906E3E7C589E}" type="datetimeFigureOut">
              <a:rPr lang="LID4096" smtClean="0"/>
              <a:t>10/14/2025</a:t>
            </a:fld>
            <a:endParaRPr lang="LID4096"/>
          </a:p>
        </p:txBody>
      </p:sp>
      <p:sp>
        <p:nvSpPr>
          <p:cNvPr id="6" name="Footer Placeholder 5">
            <a:extLst>
              <a:ext uri="{FF2B5EF4-FFF2-40B4-BE49-F238E27FC236}">
                <a16:creationId xmlns:a16="http://schemas.microsoft.com/office/drawing/2014/main" id="{412A19DA-46EB-0AD3-C6E9-C424856FD913}"/>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9052C74C-F015-DAA9-8029-B60DD62E215A}"/>
              </a:ext>
            </a:extLst>
          </p:cNvPr>
          <p:cNvSpPr>
            <a:spLocks noGrp="1"/>
          </p:cNvSpPr>
          <p:nvPr>
            <p:ph type="sldNum" sz="quarter" idx="12"/>
          </p:nvPr>
        </p:nvSpPr>
        <p:spPr/>
        <p:txBody>
          <a:bodyPr/>
          <a:lstStyle/>
          <a:p>
            <a:fld id="{855425F4-EA5D-4F60-A179-A34BFE292F86}" type="slidenum">
              <a:rPr lang="LID4096" smtClean="0"/>
              <a:t>‹#›</a:t>
            </a:fld>
            <a:endParaRPr lang="LID4096"/>
          </a:p>
        </p:txBody>
      </p:sp>
    </p:spTree>
    <p:extLst>
      <p:ext uri="{BB962C8B-B14F-4D97-AF65-F5344CB8AC3E}">
        <p14:creationId xmlns:p14="http://schemas.microsoft.com/office/powerpoint/2010/main" val="2355424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FFA91-A572-90E1-C2AC-18A15C02D07D}"/>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81C6A367-3193-486D-938C-EC0085E595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76ACCD-14CD-11B0-D024-B554A053CC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61940443-5B6A-B4C7-B759-60598721CA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75E5AD-E91F-6BEE-82AA-2E02FF0E28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213F420D-020F-73F5-DA87-EF4DB05E2B10}"/>
              </a:ext>
            </a:extLst>
          </p:cNvPr>
          <p:cNvSpPr>
            <a:spLocks noGrp="1"/>
          </p:cNvSpPr>
          <p:nvPr>
            <p:ph type="dt" sz="half" idx="10"/>
          </p:nvPr>
        </p:nvSpPr>
        <p:spPr/>
        <p:txBody>
          <a:bodyPr/>
          <a:lstStyle/>
          <a:p>
            <a:fld id="{627E113D-22E0-464C-BB0B-906E3E7C589E}" type="datetimeFigureOut">
              <a:rPr lang="LID4096" smtClean="0"/>
              <a:t>10/14/2025</a:t>
            </a:fld>
            <a:endParaRPr lang="LID4096"/>
          </a:p>
        </p:txBody>
      </p:sp>
      <p:sp>
        <p:nvSpPr>
          <p:cNvPr id="8" name="Footer Placeholder 7">
            <a:extLst>
              <a:ext uri="{FF2B5EF4-FFF2-40B4-BE49-F238E27FC236}">
                <a16:creationId xmlns:a16="http://schemas.microsoft.com/office/drawing/2014/main" id="{233F1EC4-FDAA-BC7F-A0C2-593450F34C46}"/>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10D08C1D-38EF-F386-3B3F-8144DBC09CE1}"/>
              </a:ext>
            </a:extLst>
          </p:cNvPr>
          <p:cNvSpPr>
            <a:spLocks noGrp="1"/>
          </p:cNvSpPr>
          <p:nvPr>
            <p:ph type="sldNum" sz="quarter" idx="12"/>
          </p:nvPr>
        </p:nvSpPr>
        <p:spPr/>
        <p:txBody>
          <a:bodyPr/>
          <a:lstStyle/>
          <a:p>
            <a:fld id="{855425F4-EA5D-4F60-A179-A34BFE292F86}" type="slidenum">
              <a:rPr lang="LID4096" smtClean="0"/>
              <a:t>‹#›</a:t>
            </a:fld>
            <a:endParaRPr lang="LID4096"/>
          </a:p>
        </p:txBody>
      </p:sp>
    </p:spTree>
    <p:extLst>
      <p:ext uri="{BB962C8B-B14F-4D97-AF65-F5344CB8AC3E}">
        <p14:creationId xmlns:p14="http://schemas.microsoft.com/office/powerpoint/2010/main" val="3282966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A38C1-5185-0FF6-57CB-6E9DE597217D}"/>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7A5D6DF9-D208-BA8D-5DC5-C3758A53BDDD}"/>
              </a:ext>
            </a:extLst>
          </p:cNvPr>
          <p:cNvSpPr>
            <a:spLocks noGrp="1"/>
          </p:cNvSpPr>
          <p:nvPr>
            <p:ph type="dt" sz="half" idx="10"/>
          </p:nvPr>
        </p:nvSpPr>
        <p:spPr/>
        <p:txBody>
          <a:bodyPr/>
          <a:lstStyle/>
          <a:p>
            <a:fld id="{627E113D-22E0-464C-BB0B-906E3E7C589E}" type="datetimeFigureOut">
              <a:rPr lang="LID4096" smtClean="0"/>
              <a:t>10/14/2025</a:t>
            </a:fld>
            <a:endParaRPr lang="LID4096"/>
          </a:p>
        </p:txBody>
      </p:sp>
      <p:sp>
        <p:nvSpPr>
          <p:cNvPr id="4" name="Footer Placeholder 3">
            <a:extLst>
              <a:ext uri="{FF2B5EF4-FFF2-40B4-BE49-F238E27FC236}">
                <a16:creationId xmlns:a16="http://schemas.microsoft.com/office/drawing/2014/main" id="{DB6EDC05-4A73-A5F0-CE34-11D62A64110F}"/>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E3349107-FFB8-CBAE-801C-8B74FF4D3AC7}"/>
              </a:ext>
            </a:extLst>
          </p:cNvPr>
          <p:cNvSpPr>
            <a:spLocks noGrp="1"/>
          </p:cNvSpPr>
          <p:nvPr>
            <p:ph type="sldNum" sz="quarter" idx="12"/>
          </p:nvPr>
        </p:nvSpPr>
        <p:spPr/>
        <p:txBody>
          <a:bodyPr/>
          <a:lstStyle/>
          <a:p>
            <a:fld id="{855425F4-EA5D-4F60-A179-A34BFE292F86}" type="slidenum">
              <a:rPr lang="LID4096" smtClean="0"/>
              <a:t>‹#›</a:t>
            </a:fld>
            <a:endParaRPr lang="LID4096"/>
          </a:p>
        </p:txBody>
      </p:sp>
    </p:spTree>
    <p:extLst>
      <p:ext uri="{BB962C8B-B14F-4D97-AF65-F5344CB8AC3E}">
        <p14:creationId xmlns:p14="http://schemas.microsoft.com/office/powerpoint/2010/main" val="3728671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59DA7C-3269-1E0C-1573-89732FD5FA5F}"/>
              </a:ext>
            </a:extLst>
          </p:cNvPr>
          <p:cNvSpPr>
            <a:spLocks noGrp="1"/>
          </p:cNvSpPr>
          <p:nvPr>
            <p:ph type="dt" sz="half" idx="10"/>
          </p:nvPr>
        </p:nvSpPr>
        <p:spPr/>
        <p:txBody>
          <a:bodyPr/>
          <a:lstStyle/>
          <a:p>
            <a:fld id="{627E113D-22E0-464C-BB0B-906E3E7C589E}" type="datetimeFigureOut">
              <a:rPr lang="LID4096" smtClean="0"/>
              <a:t>10/14/2025</a:t>
            </a:fld>
            <a:endParaRPr lang="LID4096"/>
          </a:p>
        </p:txBody>
      </p:sp>
      <p:sp>
        <p:nvSpPr>
          <p:cNvPr id="3" name="Footer Placeholder 2">
            <a:extLst>
              <a:ext uri="{FF2B5EF4-FFF2-40B4-BE49-F238E27FC236}">
                <a16:creationId xmlns:a16="http://schemas.microsoft.com/office/drawing/2014/main" id="{0D331B3D-D756-9572-47A8-CB728A29F74F}"/>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49EB700C-BEEA-737D-1A49-E1F69AFE846C}"/>
              </a:ext>
            </a:extLst>
          </p:cNvPr>
          <p:cNvSpPr>
            <a:spLocks noGrp="1"/>
          </p:cNvSpPr>
          <p:nvPr>
            <p:ph type="sldNum" sz="quarter" idx="12"/>
          </p:nvPr>
        </p:nvSpPr>
        <p:spPr/>
        <p:txBody>
          <a:bodyPr/>
          <a:lstStyle/>
          <a:p>
            <a:fld id="{855425F4-EA5D-4F60-A179-A34BFE292F86}" type="slidenum">
              <a:rPr lang="LID4096" smtClean="0"/>
              <a:t>‹#›</a:t>
            </a:fld>
            <a:endParaRPr lang="LID4096"/>
          </a:p>
        </p:txBody>
      </p:sp>
    </p:spTree>
    <p:extLst>
      <p:ext uri="{BB962C8B-B14F-4D97-AF65-F5344CB8AC3E}">
        <p14:creationId xmlns:p14="http://schemas.microsoft.com/office/powerpoint/2010/main" val="1595636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4FC7C-F80A-4FC9-6790-912FF9E9E1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ECFA80A3-2BD4-2AE3-0B70-AAB7ED54FA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71CAE133-DAED-77E2-7AD8-3BBBE95AC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72049D-F646-06F5-494C-3F5320657C08}"/>
              </a:ext>
            </a:extLst>
          </p:cNvPr>
          <p:cNvSpPr>
            <a:spLocks noGrp="1"/>
          </p:cNvSpPr>
          <p:nvPr>
            <p:ph type="dt" sz="half" idx="10"/>
          </p:nvPr>
        </p:nvSpPr>
        <p:spPr/>
        <p:txBody>
          <a:bodyPr/>
          <a:lstStyle/>
          <a:p>
            <a:fld id="{627E113D-22E0-464C-BB0B-906E3E7C589E}" type="datetimeFigureOut">
              <a:rPr lang="LID4096" smtClean="0"/>
              <a:t>10/14/2025</a:t>
            </a:fld>
            <a:endParaRPr lang="LID4096"/>
          </a:p>
        </p:txBody>
      </p:sp>
      <p:sp>
        <p:nvSpPr>
          <p:cNvPr id="6" name="Footer Placeholder 5">
            <a:extLst>
              <a:ext uri="{FF2B5EF4-FFF2-40B4-BE49-F238E27FC236}">
                <a16:creationId xmlns:a16="http://schemas.microsoft.com/office/drawing/2014/main" id="{BEC6B08A-558D-D410-FB51-E3B2C339325F}"/>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92F6AB8F-5B95-BCA5-33DD-BD584127DAC6}"/>
              </a:ext>
            </a:extLst>
          </p:cNvPr>
          <p:cNvSpPr>
            <a:spLocks noGrp="1"/>
          </p:cNvSpPr>
          <p:nvPr>
            <p:ph type="sldNum" sz="quarter" idx="12"/>
          </p:nvPr>
        </p:nvSpPr>
        <p:spPr/>
        <p:txBody>
          <a:bodyPr/>
          <a:lstStyle/>
          <a:p>
            <a:fld id="{855425F4-EA5D-4F60-A179-A34BFE292F86}" type="slidenum">
              <a:rPr lang="LID4096" smtClean="0"/>
              <a:t>‹#›</a:t>
            </a:fld>
            <a:endParaRPr lang="LID4096"/>
          </a:p>
        </p:txBody>
      </p:sp>
    </p:spTree>
    <p:extLst>
      <p:ext uri="{BB962C8B-B14F-4D97-AF65-F5344CB8AC3E}">
        <p14:creationId xmlns:p14="http://schemas.microsoft.com/office/powerpoint/2010/main" val="289512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8ED4C-7CE7-19EF-3DE3-EE8AE20476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0E8C7DE5-6AB3-3C10-0B44-A8F2B38DCC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3E9AC569-6CB3-EF4B-E89E-E9ACF39252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6A7514-9438-DB6C-969B-ABC9F5D930DC}"/>
              </a:ext>
            </a:extLst>
          </p:cNvPr>
          <p:cNvSpPr>
            <a:spLocks noGrp="1"/>
          </p:cNvSpPr>
          <p:nvPr>
            <p:ph type="dt" sz="half" idx="10"/>
          </p:nvPr>
        </p:nvSpPr>
        <p:spPr/>
        <p:txBody>
          <a:bodyPr/>
          <a:lstStyle/>
          <a:p>
            <a:fld id="{627E113D-22E0-464C-BB0B-906E3E7C589E}" type="datetimeFigureOut">
              <a:rPr lang="LID4096" smtClean="0"/>
              <a:t>10/14/2025</a:t>
            </a:fld>
            <a:endParaRPr lang="LID4096"/>
          </a:p>
        </p:txBody>
      </p:sp>
      <p:sp>
        <p:nvSpPr>
          <p:cNvPr id="6" name="Footer Placeholder 5">
            <a:extLst>
              <a:ext uri="{FF2B5EF4-FFF2-40B4-BE49-F238E27FC236}">
                <a16:creationId xmlns:a16="http://schemas.microsoft.com/office/drawing/2014/main" id="{67DE6E0A-3952-20B5-4698-4B7A3AA5E78D}"/>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9F1F74B9-8EA8-8039-ACD6-2C944C990AB2}"/>
              </a:ext>
            </a:extLst>
          </p:cNvPr>
          <p:cNvSpPr>
            <a:spLocks noGrp="1"/>
          </p:cNvSpPr>
          <p:nvPr>
            <p:ph type="sldNum" sz="quarter" idx="12"/>
          </p:nvPr>
        </p:nvSpPr>
        <p:spPr/>
        <p:txBody>
          <a:bodyPr/>
          <a:lstStyle/>
          <a:p>
            <a:fld id="{855425F4-EA5D-4F60-A179-A34BFE292F86}" type="slidenum">
              <a:rPr lang="LID4096" smtClean="0"/>
              <a:t>‹#›</a:t>
            </a:fld>
            <a:endParaRPr lang="LID4096"/>
          </a:p>
        </p:txBody>
      </p:sp>
    </p:spTree>
    <p:extLst>
      <p:ext uri="{BB962C8B-B14F-4D97-AF65-F5344CB8AC3E}">
        <p14:creationId xmlns:p14="http://schemas.microsoft.com/office/powerpoint/2010/main" val="2936432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7C97D-D9A7-74E1-73B1-0FE8135D3CDF}"/>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90816374-93C4-8616-9977-31B1E6169D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0723C926-1908-5131-7793-C19ECF98CA78}"/>
              </a:ext>
            </a:extLst>
          </p:cNvPr>
          <p:cNvSpPr>
            <a:spLocks noGrp="1"/>
          </p:cNvSpPr>
          <p:nvPr>
            <p:ph type="dt" sz="half" idx="10"/>
          </p:nvPr>
        </p:nvSpPr>
        <p:spPr/>
        <p:txBody>
          <a:bodyPr/>
          <a:lstStyle/>
          <a:p>
            <a:fld id="{627E113D-22E0-464C-BB0B-906E3E7C589E}" type="datetimeFigureOut">
              <a:rPr lang="LID4096" smtClean="0"/>
              <a:t>10/14/2025</a:t>
            </a:fld>
            <a:endParaRPr lang="LID4096"/>
          </a:p>
        </p:txBody>
      </p:sp>
      <p:sp>
        <p:nvSpPr>
          <p:cNvPr id="5" name="Footer Placeholder 4">
            <a:extLst>
              <a:ext uri="{FF2B5EF4-FFF2-40B4-BE49-F238E27FC236}">
                <a16:creationId xmlns:a16="http://schemas.microsoft.com/office/drawing/2014/main" id="{AA4DAE6A-D311-439F-CD81-94AE60647948}"/>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7B7FE15A-B8D3-BE36-6C95-8644CEDB3719}"/>
              </a:ext>
            </a:extLst>
          </p:cNvPr>
          <p:cNvSpPr>
            <a:spLocks noGrp="1"/>
          </p:cNvSpPr>
          <p:nvPr>
            <p:ph type="sldNum" sz="quarter" idx="12"/>
          </p:nvPr>
        </p:nvSpPr>
        <p:spPr/>
        <p:txBody>
          <a:bodyPr/>
          <a:lstStyle/>
          <a:p>
            <a:fld id="{855425F4-EA5D-4F60-A179-A34BFE292F86}" type="slidenum">
              <a:rPr lang="LID4096" smtClean="0"/>
              <a:t>‹#›</a:t>
            </a:fld>
            <a:endParaRPr lang="LID4096"/>
          </a:p>
        </p:txBody>
      </p:sp>
    </p:spTree>
    <p:extLst>
      <p:ext uri="{BB962C8B-B14F-4D97-AF65-F5344CB8AC3E}">
        <p14:creationId xmlns:p14="http://schemas.microsoft.com/office/powerpoint/2010/main" val="2053451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9BD728-3698-8B5A-27F2-4FCBE9A619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CA16AEDC-7E1C-B6C9-039C-BE14BF7DA4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0A7336C6-79EF-E5B2-01FD-BCDC6F343797}"/>
              </a:ext>
            </a:extLst>
          </p:cNvPr>
          <p:cNvSpPr>
            <a:spLocks noGrp="1"/>
          </p:cNvSpPr>
          <p:nvPr>
            <p:ph type="dt" sz="half" idx="10"/>
          </p:nvPr>
        </p:nvSpPr>
        <p:spPr/>
        <p:txBody>
          <a:bodyPr/>
          <a:lstStyle/>
          <a:p>
            <a:fld id="{627E113D-22E0-464C-BB0B-906E3E7C589E}" type="datetimeFigureOut">
              <a:rPr lang="LID4096" smtClean="0"/>
              <a:t>10/14/2025</a:t>
            </a:fld>
            <a:endParaRPr lang="LID4096"/>
          </a:p>
        </p:txBody>
      </p:sp>
      <p:sp>
        <p:nvSpPr>
          <p:cNvPr id="5" name="Footer Placeholder 4">
            <a:extLst>
              <a:ext uri="{FF2B5EF4-FFF2-40B4-BE49-F238E27FC236}">
                <a16:creationId xmlns:a16="http://schemas.microsoft.com/office/drawing/2014/main" id="{0FC5B30D-59C5-EE37-1868-9D5F62B3B25D}"/>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A3EE953-00FD-8E45-304D-AF45A010BA06}"/>
              </a:ext>
            </a:extLst>
          </p:cNvPr>
          <p:cNvSpPr>
            <a:spLocks noGrp="1"/>
          </p:cNvSpPr>
          <p:nvPr>
            <p:ph type="sldNum" sz="quarter" idx="12"/>
          </p:nvPr>
        </p:nvSpPr>
        <p:spPr/>
        <p:txBody>
          <a:bodyPr/>
          <a:lstStyle/>
          <a:p>
            <a:fld id="{855425F4-EA5D-4F60-A179-A34BFE292F86}" type="slidenum">
              <a:rPr lang="LID4096" smtClean="0"/>
              <a:t>‹#›</a:t>
            </a:fld>
            <a:endParaRPr lang="LID4096"/>
          </a:p>
        </p:txBody>
      </p:sp>
    </p:spTree>
    <p:extLst>
      <p:ext uri="{BB962C8B-B14F-4D97-AF65-F5344CB8AC3E}">
        <p14:creationId xmlns:p14="http://schemas.microsoft.com/office/powerpoint/2010/main" val="3061566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EDAA26-A714-9BF8-39CC-66675DFE71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263CA71A-FCAB-BF72-499E-DC03C258E8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C28A9B9D-7BDC-B408-854E-597C117208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113D-22E0-464C-BB0B-906E3E7C589E}" type="datetimeFigureOut">
              <a:rPr lang="LID4096" smtClean="0"/>
              <a:t>10/14/2025</a:t>
            </a:fld>
            <a:endParaRPr lang="LID4096"/>
          </a:p>
        </p:txBody>
      </p:sp>
      <p:sp>
        <p:nvSpPr>
          <p:cNvPr id="5" name="Footer Placeholder 4">
            <a:extLst>
              <a:ext uri="{FF2B5EF4-FFF2-40B4-BE49-F238E27FC236}">
                <a16:creationId xmlns:a16="http://schemas.microsoft.com/office/drawing/2014/main" id="{D3AC5AE9-C425-E1B1-16BC-066F3E382D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Slide Number Placeholder 5">
            <a:extLst>
              <a:ext uri="{FF2B5EF4-FFF2-40B4-BE49-F238E27FC236}">
                <a16:creationId xmlns:a16="http://schemas.microsoft.com/office/drawing/2014/main" id="{8F28150D-3A40-52B1-BFB9-10A50DF97B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5425F4-EA5D-4F60-A179-A34BFE292F86}" type="slidenum">
              <a:rPr lang="LID4096" smtClean="0"/>
              <a:t>‹#›</a:t>
            </a:fld>
            <a:endParaRPr lang="LID4096"/>
          </a:p>
        </p:txBody>
      </p:sp>
    </p:spTree>
    <p:extLst>
      <p:ext uri="{BB962C8B-B14F-4D97-AF65-F5344CB8AC3E}">
        <p14:creationId xmlns:p14="http://schemas.microsoft.com/office/powerpoint/2010/main" val="193881603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 Id="rId5" Type="http://schemas.openxmlformats.org/officeDocument/2006/relationships/chart" Target="../charts/chart6.xml"/><Relationship Id="rId4" Type="http://schemas.openxmlformats.org/officeDocument/2006/relationships/chart" Target="../charts/chart5.xml"/></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F4E9F-8BF9-D0F2-9D44-785537508294}"/>
              </a:ext>
            </a:extLst>
          </p:cNvPr>
          <p:cNvSpPr>
            <a:spLocks noGrp="1"/>
          </p:cNvSpPr>
          <p:nvPr>
            <p:ph type="ctrTitle"/>
          </p:nvPr>
        </p:nvSpPr>
        <p:spPr/>
        <p:txBody>
          <a:bodyPr/>
          <a:lstStyle/>
          <a:p>
            <a:r>
              <a:rPr lang="en-US" dirty="0"/>
              <a:t>Evaluation of Style Advisor Performance</a:t>
            </a:r>
            <a:endParaRPr lang="LID4096" dirty="0"/>
          </a:p>
        </p:txBody>
      </p:sp>
      <p:sp>
        <p:nvSpPr>
          <p:cNvPr id="3" name="Subtitle 2">
            <a:extLst>
              <a:ext uri="{FF2B5EF4-FFF2-40B4-BE49-F238E27FC236}">
                <a16:creationId xmlns:a16="http://schemas.microsoft.com/office/drawing/2014/main" id="{DFDA5A58-2EA9-531A-8469-A126E20C2E4C}"/>
              </a:ext>
            </a:extLst>
          </p:cNvPr>
          <p:cNvSpPr>
            <a:spLocks noGrp="1"/>
          </p:cNvSpPr>
          <p:nvPr>
            <p:ph type="subTitle" idx="1"/>
          </p:nvPr>
        </p:nvSpPr>
        <p:spPr/>
        <p:txBody>
          <a:bodyPr/>
          <a:lstStyle/>
          <a:p>
            <a:r>
              <a:rPr lang="en-IN" sz="2400" b="0" i="0" u="none" strike="noStrike" baseline="0" dirty="0">
                <a:solidFill>
                  <a:srgbClr val="000000"/>
                </a:solidFill>
                <a:latin typeface="Times New Roman" panose="02020603050405020304" pitchFamily="18" charset="0"/>
              </a:rPr>
              <a:t>Comprehensive Analysis and Insights </a:t>
            </a:r>
            <a:endParaRPr lang="LID4096" dirty="0"/>
          </a:p>
        </p:txBody>
      </p:sp>
    </p:spTree>
    <p:extLst>
      <p:ext uri="{BB962C8B-B14F-4D97-AF65-F5344CB8AC3E}">
        <p14:creationId xmlns:p14="http://schemas.microsoft.com/office/powerpoint/2010/main" val="306561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394C9-14A3-6336-2D9D-3E4C9895A09C}"/>
              </a:ext>
            </a:extLst>
          </p:cNvPr>
          <p:cNvSpPr>
            <a:spLocks noGrp="1"/>
          </p:cNvSpPr>
          <p:nvPr>
            <p:ph type="title"/>
          </p:nvPr>
        </p:nvSpPr>
        <p:spPr/>
        <p:txBody>
          <a:bodyPr/>
          <a:lstStyle/>
          <a:p>
            <a:r>
              <a:rPr lang="en-IN" sz="1800" b="1" i="0" u="none" strike="noStrike" baseline="0" dirty="0">
                <a:solidFill>
                  <a:srgbClr val="000000"/>
                </a:solidFill>
                <a:latin typeface="Times New Roman" panose="02020603050405020304" pitchFamily="18" charset="0"/>
              </a:rPr>
              <a:t>Introduction &amp; Objectives </a:t>
            </a:r>
            <a:endParaRPr lang="LID4096" dirty="0"/>
          </a:p>
        </p:txBody>
      </p:sp>
      <p:sp>
        <p:nvSpPr>
          <p:cNvPr id="3" name="Content Placeholder 2">
            <a:extLst>
              <a:ext uri="{FF2B5EF4-FFF2-40B4-BE49-F238E27FC236}">
                <a16:creationId xmlns:a16="http://schemas.microsoft.com/office/drawing/2014/main" id="{0881C6F9-8124-ED30-622E-230DA9DADCB7}"/>
              </a:ext>
            </a:extLst>
          </p:cNvPr>
          <p:cNvSpPr>
            <a:spLocks noGrp="1"/>
          </p:cNvSpPr>
          <p:nvPr>
            <p:ph idx="1"/>
          </p:nvPr>
        </p:nvSpPr>
        <p:spPr/>
        <p:txBody>
          <a:bodyPr>
            <a:normAutofit/>
          </a:bodyPr>
          <a:lstStyle/>
          <a:p>
            <a:r>
              <a:rPr lang="en-IN" sz="1800" b="0" i="0" u="none" strike="noStrike" baseline="0" dirty="0">
                <a:solidFill>
                  <a:srgbClr val="000000"/>
                </a:solidFill>
                <a:latin typeface="Times New Roman" panose="02020603050405020304" pitchFamily="18" charset="0"/>
              </a:rPr>
              <a:t>Overview of the project :</a:t>
            </a:r>
          </a:p>
          <a:p>
            <a:pPr marL="0" indent="0">
              <a:buNone/>
            </a:pPr>
            <a:r>
              <a:rPr lang="en-US" sz="1800" b="0" i="0" u="none" strike="noStrike" baseline="0" dirty="0">
                <a:solidFill>
                  <a:srgbClr val="000000"/>
                </a:solidFill>
                <a:latin typeface="Times New Roman" panose="02020603050405020304" pitchFamily="18" charset="0"/>
              </a:rPr>
              <a:t>The project aims to evaluate the performance of Style Advisors using a comprehensive set of criteria. The evaluation data covers various aspects such as store ambiance, first impressions, discovery of customer needs, trial experience, and overall customer service. The primary focus is on understanding how well Style Advisors are performing and identifying areas for improvement. </a:t>
            </a:r>
          </a:p>
          <a:p>
            <a:pPr marL="0" indent="0">
              <a:buNone/>
            </a:pPr>
            <a:endParaRPr lang="en-US" sz="1800" dirty="0">
              <a:solidFill>
                <a:srgbClr val="000000"/>
              </a:solidFill>
              <a:latin typeface="Times New Roman" panose="02020603050405020304" pitchFamily="18" charset="0"/>
            </a:endParaRPr>
          </a:p>
          <a:p>
            <a:r>
              <a:rPr lang="en-IN" sz="1800" b="0" i="0" u="none" strike="noStrike" baseline="0" dirty="0">
                <a:solidFill>
                  <a:srgbClr val="000000"/>
                </a:solidFill>
                <a:latin typeface="Times New Roman" panose="02020603050405020304" pitchFamily="18" charset="0"/>
              </a:rPr>
              <a:t>Objectives of the analysis </a:t>
            </a:r>
          </a:p>
          <a:p>
            <a:pPr marL="342900" indent="-342900">
              <a:buAutoNum type="arabicPeriod"/>
            </a:pPr>
            <a:r>
              <a:rPr lang="en-US" sz="1800" b="1" i="0" u="none" strike="noStrike" baseline="0" dirty="0">
                <a:solidFill>
                  <a:srgbClr val="000000"/>
                </a:solidFill>
                <a:latin typeface="Times New Roman" panose="02020603050405020304" pitchFamily="18" charset="0"/>
              </a:rPr>
              <a:t>Performance Grading</a:t>
            </a:r>
            <a:r>
              <a:rPr lang="en-US" sz="1800" b="0" i="0" u="none" strike="noStrike" baseline="0" dirty="0">
                <a:solidFill>
                  <a:srgbClr val="000000"/>
                </a:solidFill>
                <a:latin typeface="Times New Roman" panose="02020603050405020304" pitchFamily="18" charset="0"/>
              </a:rPr>
              <a:t>: Assign grades to each Style Advisor based on their </a:t>
            </a:r>
            <a:r>
              <a:rPr lang="en-US" sz="1800" b="0" i="0" u="none" strike="noStrike" baseline="0" dirty="0" err="1">
                <a:solidFill>
                  <a:srgbClr val="000000"/>
                </a:solidFill>
                <a:latin typeface="Times New Roman" panose="02020603050405020304" pitchFamily="18" charset="0"/>
              </a:rPr>
              <a:t>Evaluation_Score</a:t>
            </a:r>
            <a:r>
              <a:rPr lang="en-US" sz="1800" b="0" i="0" u="none" strike="noStrike" baseline="0" dirty="0">
                <a:solidFill>
                  <a:srgbClr val="000000"/>
                </a:solidFill>
                <a:latin typeface="Times New Roman" panose="02020603050405020304" pitchFamily="18" charset="0"/>
              </a:rPr>
              <a:t>. </a:t>
            </a:r>
          </a:p>
          <a:p>
            <a:pPr marL="342900" indent="-342900">
              <a:buAutoNum type="arabicPeriod"/>
            </a:pPr>
            <a:r>
              <a:rPr lang="en-US" sz="1800" b="1" i="0" u="none" strike="noStrike" baseline="0" dirty="0">
                <a:solidFill>
                  <a:srgbClr val="000000"/>
                </a:solidFill>
                <a:latin typeface="Times New Roman" panose="02020603050405020304" pitchFamily="18" charset="0"/>
              </a:rPr>
              <a:t>Pivot Table Analysis</a:t>
            </a:r>
            <a:r>
              <a:rPr lang="en-US" sz="1800" b="0" i="0" u="none" strike="noStrike" baseline="0" dirty="0">
                <a:solidFill>
                  <a:srgbClr val="000000"/>
                </a:solidFill>
                <a:latin typeface="Times New Roman" panose="02020603050405020304" pitchFamily="18" charset="0"/>
              </a:rPr>
              <a:t>: Analyze average evaluation scores by zone to understand regional performance. </a:t>
            </a:r>
          </a:p>
          <a:p>
            <a:pPr marL="342900" indent="-342900">
              <a:buAutoNum type="arabicPeriod"/>
            </a:pPr>
            <a:r>
              <a:rPr lang="en-US" sz="1800" b="1" i="0" u="none" strike="noStrike" baseline="0" dirty="0">
                <a:solidFill>
                  <a:srgbClr val="000000"/>
                </a:solidFill>
                <a:latin typeface="Times New Roman" panose="02020603050405020304" pitchFamily="18" charset="0"/>
              </a:rPr>
              <a:t>High Performer Identification</a:t>
            </a:r>
            <a:r>
              <a:rPr lang="en-US" sz="1800" b="0" i="0" u="none" strike="noStrike" baseline="0" dirty="0">
                <a:solidFill>
                  <a:srgbClr val="000000"/>
                </a:solidFill>
                <a:latin typeface="Times New Roman" panose="02020603050405020304" pitchFamily="18" charset="0"/>
              </a:rPr>
              <a:t>: Determine which region has the highest percentage of high performers. </a:t>
            </a:r>
          </a:p>
          <a:p>
            <a:pPr marL="342900" indent="-342900">
              <a:buAutoNum type="arabicPeriod"/>
            </a:pPr>
            <a:r>
              <a:rPr lang="en-US" sz="1800" b="1" i="0" u="none" strike="noStrike" baseline="0" dirty="0">
                <a:solidFill>
                  <a:srgbClr val="000000"/>
                </a:solidFill>
                <a:latin typeface="Times New Roman" panose="02020603050405020304" pitchFamily="18" charset="0"/>
              </a:rPr>
              <a:t>Visualization</a:t>
            </a:r>
            <a:r>
              <a:rPr lang="en-US" sz="1800" b="0" i="0" u="none" strike="noStrike" baseline="0" dirty="0">
                <a:solidFill>
                  <a:srgbClr val="000000"/>
                </a:solidFill>
                <a:latin typeface="Times New Roman" panose="02020603050405020304" pitchFamily="18" charset="0"/>
              </a:rPr>
              <a:t>: Create visual representations of the data to highlight key trends and insights. </a:t>
            </a:r>
          </a:p>
          <a:p>
            <a:pPr marL="342900" indent="-342900">
              <a:buAutoNum type="arabicPeriod"/>
            </a:pPr>
            <a:r>
              <a:rPr lang="en-US" sz="1800" b="1" i="0" u="none" strike="noStrike" baseline="0" dirty="0">
                <a:solidFill>
                  <a:srgbClr val="000000"/>
                </a:solidFill>
                <a:latin typeface="Times New Roman" panose="02020603050405020304" pitchFamily="18" charset="0"/>
              </a:rPr>
              <a:t>Presentation Report</a:t>
            </a:r>
            <a:r>
              <a:rPr lang="en-US" sz="1800" b="0" i="0" u="none" strike="noStrike" baseline="0" dirty="0">
                <a:solidFill>
                  <a:srgbClr val="000000"/>
                </a:solidFill>
                <a:latin typeface="Times New Roman" panose="02020603050405020304" pitchFamily="18" charset="0"/>
              </a:rPr>
              <a:t>: Summarize findings and provide recommendations for management. </a:t>
            </a:r>
            <a:endParaRPr lang="en-IN" sz="18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884892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AF07C-532F-EE3E-BF87-DF84B4528875}"/>
              </a:ext>
            </a:extLst>
          </p:cNvPr>
          <p:cNvSpPr>
            <a:spLocks noGrp="1"/>
          </p:cNvSpPr>
          <p:nvPr>
            <p:ph type="title"/>
          </p:nvPr>
        </p:nvSpPr>
        <p:spPr>
          <a:xfrm>
            <a:off x="838200" y="365126"/>
            <a:ext cx="10515600" cy="242470"/>
          </a:xfrm>
        </p:spPr>
        <p:txBody>
          <a:bodyPr>
            <a:normAutofit fontScale="90000"/>
          </a:bodyPr>
          <a:lstStyle/>
          <a:p>
            <a:r>
              <a:rPr lang="en-IN" sz="1800" b="1" i="0" u="none" strike="noStrike" baseline="0" dirty="0">
                <a:solidFill>
                  <a:srgbClr val="000000"/>
                </a:solidFill>
                <a:latin typeface="Times New Roman" panose="02020603050405020304" pitchFamily="18" charset="0"/>
              </a:rPr>
              <a:t>Data Overview </a:t>
            </a:r>
            <a:endParaRPr lang="LID4096" dirty="0"/>
          </a:p>
        </p:txBody>
      </p:sp>
      <p:sp>
        <p:nvSpPr>
          <p:cNvPr id="3" name="Content Placeholder 2">
            <a:extLst>
              <a:ext uri="{FF2B5EF4-FFF2-40B4-BE49-F238E27FC236}">
                <a16:creationId xmlns:a16="http://schemas.microsoft.com/office/drawing/2014/main" id="{D8AEC3BA-7B6E-8A5E-BDE5-05F9EA3656FD}"/>
              </a:ext>
            </a:extLst>
          </p:cNvPr>
          <p:cNvSpPr>
            <a:spLocks noGrp="1"/>
          </p:cNvSpPr>
          <p:nvPr>
            <p:ph idx="1"/>
          </p:nvPr>
        </p:nvSpPr>
        <p:spPr>
          <a:xfrm>
            <a:off x="741799" y="607596"/>
            <a:ext cx="10515600" cy="4351338"/>
          </a:xfrm>
        </p:spPr>
        <p:txBody>
          <a:bodyPr/>
          <a:lstStyle/>
          <a:p>
            <a:r>
              <a:rPr lang="en-US" sz="1800" b="0" i="0" u="none" strike="noStrike" baseline="0" dirty="0">
                <a:solidFill>
                  <a:srgbClr val="000000"/>
                </a:solidFill>
                <a:latin typeface="Times New Roman" panose="02020603050405020304" pitchFamily="18" charset="0"/>
              </a:rPr>
              <a:t>Explanation of columns and data structure </a:t>
            </a:r>
          </a:p>
          <a:p>
            <a:pPr marL="0" indent="0">
              <a:buNone/>
            </a:pPr>
            <a:endParaRPr lang="LID4096" dirty="0"/>
          </a:p>
        </p:txBody>
      </p:sp>
      <p:graphicFrame>
        <p:nvGraphicFramePr>
          <p:cNvPr id="9" name="Table 8">
            <a:extLst>
              <a:ext uri="{FF2B5EF4-FFF2-40B4-BE49-F238E27FC236}">
                <a16:creationId xmlns:a16="http://schemas.microsoft.com/office/drawing/2014/main" id="{7743051F-95F5-D6B7-FA78-E0DE3C052D4B}"/>
              </a:ext>
            </a:extLst>
          </p:cNvPr>
          <p:cNvGraphicFramePr>
            <a:graphicFrameLocks noGrp="1"/>
          </p:cNvGraphicFramePr>
          <p:nvPr>
            <p:extLst>
              <p:ext uri="{D42A27DB-BD31-4B8C-83A1-F6EECF244321}">
                <p14:modId xmlns:p14="http://schemas.microsoft.com/office/powerpoint/2010/main" val="1994026158"/>
              </p:ext>
            </p:extLst>
          </p:nvPr>
        </p:nvGraphicFramePr>
        <p:xfrm>
          <a:off x="838200" y="968443"/>
          <a:ext cx="8185484" cy="5757231"/>
        </p:xfrm>
        <a:graphic>
          <a:graphicData uri="http://schemas.openxmlformats.org/drawingml/2006/table">
            <a:tbl>
              <a:tblPr>
                <a:tableStyleId>{5C22544A-7EE6-4342-B048-85BDC9FD1C3A}</a:tableStyleId>
              </a:tblPr>
              <a:tblGrid>
                <a:gridCol w="2404432">
                  <a:extLst>
                    <a:ext uri="{9D8B030D-6E8A-4147-A177-3AD203B41FA5}">
                      <a16:colId xmlns:a16="http://schemas.microsoft.com/office/drawing/2014/main" val="3399338316"/>
                    </a:ext>
                  </a:extLst>
                </a:gridCol>
                <a:gridCol w="5781052">
                  <a:extLst>
                    <a:ext uri="{9D8B030D-6E8A-4147-A177-3AD203B41FA5}">
                      <a16:colId xmlns:a16="http://schemas.microsoft.com/office/drawing/2014/main" val="4088016323"/>
                    </a:ext>
                  </a:extLst>
                </a:gridCol>
              </a:tblGrid>
              <a:tr h="108627">
                <a:tc>
                  <a:txBody>
                    <a:bodyPr/>
                    <a:lstStyle/>
                    <a:p>
                      <a:pPr algn="l" fontAlgn="b"/>
                      <a:r>
                        <a:rPr lang="en-IN" sz="500" u="none" strike="noStrike">
                          <a:effectLst/>
                        </a:rPr>
                        <a:t>Core Data Fields</a:t>
                      </a:r>
                      <a:endParaRPr lang="en-IN" sz="500" b="0" i="0" u="none" strike="noStrike">
                        <a:solidFill>
                          <a:srgbClr val="000000"/>
                        </a:solidFill>
                        <a:effectLst/>
                        <a:latin typeface="Calibri" panose="020F0502020204030204" pitchFamily="34" charset="0"/>
                      </a:endParaRPr>
                    </a:p>
                  </a:txBody>
                  <a:tcPr marL="4105" marR="4105" marT="4105" marB="0" anchor="b"/>
                </a:tc>
                <a:tc>
                  <a:txBody>
                    <a:bodyPr/>
                    <a:lstStyle/>
                    <a:p>
                      <a:pPr algn="l" fontAlgn="b"/>
                      <a:endParaRPr lang="en-001" sz="500" b="0" i="0" u="none" strike="noStrike">
                        <a:solidFill>
                          <a:srgbClr val="000000"/>
                        </a:solidFill>
                        <a:effectLst/>
                        <a:latin typeface="Calibri" panose="020F0502020204030204" pitchFamily="34" charset="0"/>
                      </a:endParaRPr>
                    </a:p>
                  </a:txBody>
                  <a:tcPr marL="4105" marR="4105" marT="4105" marB="0" anchor="b"/>
                </a:tc>
                <a:extLst>
                  <a:ext uri="{0D108BD9-81ED-4DB2-BD59-A6C34878D82A}">
                    <a16:rowId xmlns:a16="http://schemas.microsoft.com/office/drawing/2014/main" val="392825192"/>
                  </a:ext>
                </a:extLst>
              </a:tr>
              <a:tr h="108627">
                <a:tc>
                  <a:txBody>
                    <a:bodyPr/>
                    <a:lstStyle/>
                    <a:p>
                      <a:pPr algn="ctr" fontAlgn="ctr"/>
                      <a:r>
                        <a:rPr lang="en-IN" sz="500" u="none" strike="noStrike">
                          <a:effectLst/>
                        </a:rPr>
                        <a:t>Column Name</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ctr" fontAlgn="ctr"/>
                      <a:r>
                        <a:rPr lang="en-IN" sz="500" u="none" strike="noStrike">
                          <a:effectLst/>
                        </a:rPr>
                        <a:t>Description</a:t>
                      </a:r>
                      <a:endParaRPr lang="en-IN" sz="500" b="1"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2112027467"/>
                  </a:ext>
                </a:extLst>
              </a:tr>
              <a:tr h="108627">
                <a:tc>
                  <a:txBody>
                    <a:bodyPr/>
                    <a:lstStyle/>
                    <a:p>
                      <a:pPr algn="l" fontAlgn="ctr"/>
                      <a:r>
                        <a:rPr lang="en-IN" sz="500" u="none" strike="noStrike">
                          <a:effectLst/>
                        </a:rPr>
                        <a:t>Evaluation_ID</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Unique identifier for each evaluation entry.</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4209162662"/>
                  </a:ext>
                </a:extLst>
              </a:tr>
              <a:tr h="108627">
                <a:tc>
                  <a:txBody>
                    <a:bodyPr/>
                    <a:lstStyle/>
                    <a:p>
                      <a:pPr algn="l" fontAlgn="ctr"/>
                      <a:r>
                        <a:rPr lang="en-IN" sz="500" u="none" strike="noStrike">
                          <a:effectLst/>
                        </a:rPr>
                        <a:t>Evaluation_Date</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Date when the evaluation took place.</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3315877342"/>
                  </a:ext>
                </a:extLst>
              </a:tr>
              <a:tr h="108627">
                <a:tc>
                  <a:txBody>
                    <a:bodyPr/>
                    <a:lstStyle/>
                    <a:p>
                      <a:pPr algn="l" fontAlgn="ctr"/>
                      <a:r>
                        <a:rPr lang="en-IN" sz="500" u="none" strike="noStrike">
                          <a:effectLst/>
                        </a:rPr>
                        <a:t>Evaluation_Score</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The total or overall score (numeric) assigned to that visit — typically from 0–100.</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3405732842"/>
                  </a:ext>
                </a:extLst>
              </a:tr>
              <a:tr h="108627">
                <a:tc>
                  <a:txBody>
                    <a:bodyPr/>
                    <a:lstStyle/>
                    <a:p>
                      <a:pPr algn="l" fontAlgn="ctr"/>
                      <a:r>
                        <a:rPr lang="en-IN" sz="500" u="none" strike="noStrike">
                          <a:effectLst/>
                        </a:rPr>
                        <a:t>GRADE</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Performance category derived from Evaluation_Score, e.g. “High Performer”, “Average Performer”, “Low Performer”, “Bottom Performer”.</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1628070212"/>
                  </a:ext>
                </a:extLst>
              </a:tr>
              <a:tr h="108627">
                <a:tc>
                  <a:txBody>
                    <a:bodyPr/>
                    <a:lstStyle/>
                    <a:p>
                      <a:pPr algn="l" fontAlgn="ctr"/>
                      <a:endParaRPr lang="en-001"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endParaRPr lang="en-001" sz="500" b="0" i="0" u="none" strike="noStrike" dirty="0">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760452641"/>
                  </a:ext>
                </a:extLst>
              </a:tr>
              <a:tr h="108627">
                <a:tc>
                  <a:txBody>
                    <a:bodyPr/>
                    <a:lstStyle/>
                    <a:p>
                      <a:pPr algn="l" fontAlgn="ctr"/>
                      <a:r>
                        <a:rPr lang="en-IN" sz="500" u="none" strike="noStrike">
                          <a:effectLst/>
                        </a:rPr>
                        <a:t>Scoring Categories (Quantitative Metrics)</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b"/>
                      <a:endParaRPr lang="en-001" sz="500" b="0" i="0" u="none" strike="noStrike">
                        <a:solidFill>
                          <a:srgbClr val="000000"/>
                        </a:solidFill>
                        <a:effectLst/>
                        <a:latin typeface="Calibri" panose="020F0502020204030204" pitchFamily="34" charset="0"/>
                      </a:endParaRPr>
                    </a:p>
                  </a:txBody>
                  <a:tcPr marL="4105" marR="4105" marT="4105" marB="0" anchor="b"/>
                </a:tc>
                <a:extLst>
                  <a:ext uri="{0D108BD9-81ED-4DB2-BD59-A6C34878D82A}">
                    <a16:rowId xmlns:a16="http://schemas.microsoft.com/office/drawing/2014/main" val="1759196731"/>
                  </a:ext>
                </a:extLst>
              </a:tr>
              <a:tr h="108627">
                <a:tc>
                  <a:txBody>
                    <a:bodyPr/>
                    <a:lstStyle/>
                    <a:p>
                      <a:pPr algn="ctr" fontAlgn="ctr"/>
                      <a:r>
                        <a:rPr lang="en-IN" sz="500" u="none" strike="noStrike">
                          <a:effectLst/>
                        </a:rPr>
                        <a:t>Column</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ctr" fontAlgn="ctr"/>
                      <a:r>
                        <a:rPr lang="en-IN" sz="500" u="none" strike="noStrike">
                          <a:effectLst/>
                        </a:rPr>
                        <a:t>Meaning</a:t>
                      </a:r>
                      <a:endParaRPr lang="en-IN" sz="500" b="1"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2885787765"/>
                  </a:ext>
                </a:extLst>
              </a:tr>
              <a:tr h="108627">
                <a:tc>
                  <a:txBody>
                    <a:bodyPr/>
                    <a:lstStyle/>
                    <a:p>
                      <a:pPr algn="l" fontAlgn="ctr"/>
                      <a:r>
                        <a:rPr lang="en-IN" sz="500" u="none" strike="noStrike">
                          <a:effectLst/>
                        </a:rPr>
                        <a:t>STORE AMBIANCE</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Rating of store cleanliness, lighting, and general appearance.</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2905783387"/>
                  </a:ext>
                </a:extLst>
              </a:tr>
              <a:tr h="108627">
                <a:tc>
                  <a:txBody>
                    <a:bodyPr/>
                    <a:lstStyle/>
                    <a:p>
                      <a:pPr algn="l" fontAlgn="ctr"/>
                      <a:r>
                        <a:rPr lang="en-IN" sz="500" u="none" strike="noStrike">
                          <a:effectLst/>
                        </a:rPr>
                        <a:t>FIRST IMPRESSIONS</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How welcoming and engaging the staff were when the customer entered.</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819230734"/>
                  </a:ext>
                </a:extLst>
              </a:tr>
              <a:tr h="108627">
                <a:tc>
                  <a:txBody>
                    <a:bodyPr/>
                    <a:lstStyle/>
                    <a:p>
                      <a:pPr algn="l" fontAlgn="ctr"/>
                      <a:r>
                        <a:rPr lang="en-IN" sz="500" u="none" strike="noStrike">
                          <a:effectLst/>
                        </a:rPr>
                        <a:t>DISCOVERY</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How well the Style Advisor understood customer needs and preferences.</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10970831"/>
                  </a:ext>
                </a:extLst>
              </a:tr>
              <a:tr h="108627">
                <a:tc>
                  <a:txBody>
                    <a:bodyPr/>
                    <a:lstStyle/>
                    <a:p>
                      <a:pPr algn="l" fontAlgn="ctr"/>
                      <a:r>
                        <a:rPr lang="en-IN" sz="500" u="none" strike="noStrike">
                          <a:effectLst/>
                        </a:rPr>
                        <a:t>RECOMMENDATIONS</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Whether the advisor recommended appropriate products.</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3246879079"/>
                  </a:ext>
                </a:extLst>
              </a:tr>
              <a:tr h="108627">
                <a:tc>
                  <a:txBody>
                    <a:bodyPr/>
                    <a:lstStyle/>
                    <a:p>
                      <a:pPr algn="l" fontAlgn="ctr"/>
                      <a:r>
                        <a:rPr lang="en-IN" sz="500" u="none" strike="noStrike">
                          <a:effectLst/>
                        </a:rPr>
                        <a:t>TRIAL EXPERIENCE &amp; UPSELL</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How well the advisor managed the product trial and attempted to upsell.</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1282005467"/>
                  </a:ext>
                </a:extLst>
              </a:tr>
              <a:tr h="108627">
                <a:tc>
                  <a:txBody>
                    <a:bodyPr/>
                    <a:lstStyle/>
                    <a:p>
                      <a:pPr algn="l" fontAlgn="ctr"/>
                      <a:r>
                        <a:rPr lang="en-IN" sz="500" u="none" strike="noStrike">
                          <a:effectLst/>
                        </a:rPr>
                        <a:t>OBJECTION HANDLING</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How well objections or concerns were addressed.</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2369952197"/>
                  </a:ext>
                </a:extLst>
              </a:tr>
              <a:tr h="108627">
                <a:tc>
                  <a:txBody>
                    <a:bodyPr/>
                    <a:lstStyle/>
                    <a:p>
                      <a:pPr algn="l" fontAlgn="ctr"/>
                      <a:r>
                        <a:rPr lang="en-IN" sz="500" u="none" strike="noStrike">
                          <a:effectLst/>
                        </a:rPr>
                        <a:t>CLOSURE &amp; CARE</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Quality of closing interaction and post-sale care.</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3900039513"/>
                  </a:ext>
                </a:extLst>
              </a:tr>
              <a:tr h="108627">
                <a:tc>
                  <a:txBody>
                    <a:bodyPr/>
                    <a:lstStyle/>
                    <a:p>
                      <a:pPr algn="l" fontAlgn="ctr"/>
                      <a:r>
                        <a:rPr lang="en-IN" sz="500" u="none" strike="noStrike">
                          <a:effectLst/>
                        </a:rPr>
                        <a:t>OVERALL EXPERIENCE</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Summary score for the overall customer journey.</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1886934026"/>
                  </a:ext>
                </a:extLst>
              </a:tr>
              <a:tr h="108627">
                <a:tc>
                  <a:txBody>
                    <a:bodyPr/>
                    <a:lstStyle/>
                    <a:p>
                      <a:pPr algn="l" fontAlgn="b"/>
                      <a:endParaRPr lang="en-001" sz="500" b="0" i="0" u="none" strike="noStrike">
                        <a:solidFill>
                          <a:srgbClr val="000000"/>
                        </a:solidFill>
                        <a:effectLst/>
                        <a:latin typeface="Calibri" panose="020F0502020204030204" pitchFamily="34" charset="0"/>
                      </a:endParaRPr>
                    </a:p>
                  </a:txBody>
                  <a:tcPr marL="4105" marR="4105" marT="4105" marB="0" anchor="b"/>
                </a:tc>
                <a:tc>
                  <a:txBody>
                    <a:bodyPr/>
                    <a:lstStyle/>
                    <a:p>
                      <a:pPr algn="l" fontAlgn="b"/>
                      <a:endParaRPr lang="en-001" sz="500" b="0" i="0" u="none" strike="noStrike">
                        <a:solidFill>
                          <a:srgbClr val="000000"/>
                        </a:solidFill>
                        <a:effectLst/>
                        <a:latin typeface="Calibri" panose="020F0502020204030204" pitchFamily="34" charset="0"/>
                      </a:endParaRPr>
                    </a:p>
                  </a:txBody>
                  <a:tcPr marL="4105" marR="4105" marT="4105" marB="0" anchor="b"/>
                </a:tc>
                <a:extLst>
                  <a:ext uri="{0D108BD9-81ED-4DB2-BD59-A6C34878D82A}">
                    <a16:rowId xmlns:a16="http://schemas.microsoft.com/office/drawing/2014/main" val="3615616556"/>
                  </a:ext>
                </a:extLst>
              </a:tr>
              <a:tr h="108627">
                <a:tc>
                  <a:txBody>
                    <a:bodyPr/>
                    <a:lstStyle/>
                    <a:p>
                      <a:pPr algn="l" fontAlgn="ctr"/>
                      <a:r>
                        <a:rPr lang="en-IN" sz="500" u="none" strike="noStrike">
                          <a:effectLst/>
                        </a:rPr>
                        <a:t>Location &amp; Regional Fields</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b"/>
                      <a:endParaRPr lang="en-001" sz="500" b="0" i="0" u="none" strike="noStrike">
                        <a:solidFill>
                          <a:srgbClr val="000000"/>
                        </a:solidFill>
                        <a:effectLst/>
                        <a:latin typeface="Calibri" panose="020F0502020204030204" pitchFamily="34" charset="0"/>
                      </a:endParaRPr>
                    </a:p>
                  </a:txBody>
                  <a:tcPr marL="4105" marR="4105" marT="4105" marB="0" anchor="b"/>
                </a:tc>
                <a:extLst>
                  <a:ext uri="{0D108BD9-81ED-4DB2-BD59-A6C34878D82A}">
                    <a16:rowId xmlns:a16="http://schemas.microsoft.com/office/drawing/2014/main" val="3978847820"/>
                  </a:ext>
                </a:extLst>
              </a:tr>
              <a:tr h="108627">
                <a:tc>
                  <a:txBody>
                    <a:bodyPr/>
                    <a:lstStyle/>
                    <a:p>
                      <a:pPr algn="ctr" fontAlgn="ctr"/>
                      <a:r>
                        <a:rPr lang="en-IN" sz="500" u="none" strike="noStrike">
                          <a:effectLst/>
                        </a:rPr>
                        <a:t>Column</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ctr" fontAlgn="ctr"/>
                      <a:r>
                        <a:rPr lang="en-IN" sz="500" u="none" strike="noStrike">
                          <a:effectLst/>
                        </a:rPr>
                        <a:t>Description</a:t>
                      </a:r>
                      <a:endParaRPr lang="en-IN" sz="500" b="1"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516698763"/>
                  </a:ext>
                </a:extLst>
              </a:tr>
              <a:tr h="108627">
                <a:tc>
                  <a:txBody>
                    <a:bodyPr/>
                    <a:lstStyle/>
                    <a:p>
                      <a:pPr algn="l" fontAlgn="ctr"/>
                      <a:r>
                        <a:rPr lang="en-IN" sz="500" u="none" strike="noStrike">
                          <a:effectLst/>
                        </a:rPr>
                        <a:t>Location_City</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City where the evaluated store is located.</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2845189237"/>
                  </a:ext>
                </a:extLst>
              </a:tr>
              <a:tr h="108627">
                <a:tc>
                  <a:txBody>
                    <a:bodyPr/>
                    <a:lstStyle/>
                    <a:p>
                      <a:pPr algn="l" fontAlgn="ctr"/>
                      <a:r>
                        <a:rPr lang="en-IN" sz="500" u="none" strike="noStrike">
                          <a:effectLst/>
                        </a:rPr>
                        <a:t>Location_State</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IN" sz="500" u="none" strike="noStrike">
                          <a:effectLst/>
                        </a:rPr>
                        <a:t>State or region name.</a:t>
                      </a:r>
                      <a:endParaRPr lang="en-IN"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1422112689"/>
                  </a:ext>
                </a:extLst>
              </a:tr>
              <a:tr h="108627">
                <a:tc>
                  <a:txBody>
                    <a:bodyPr/>
                    <a:lstStyle/>
                    <a:p>
                      <a:pPr algn="l" fontAlgn="ctr"/>
                      <a:r>
                        <a:rPr lang="en-IN" sz="500" u="none" strike="noStrike">
                          <a:effectLst/>
                        </a:rPr>
                        <a:t>Zone</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Geographic zone (e.g. North, South, East, West). Useful for regional comparisons.</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4096079241"/>
                  </a:ext>
                </a:extLst>
              </a:tr>
              <a:tr h="108627">
                <a:tc>
                  <a:txBody>
                    <a:bodyPr/>
                    <a:lstStyle/>
                    <a:p>
                      <a:pPr algn="l" fontAlgn="ctr"/>
                      <a:r>
                        <a:rPr lang="en-IN" sz="500" u="none" strike="noStrike">
                          <a:effectLst/>
                        </a:rPr>
                        <a:t>Avg Score per zone</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(Likely derived or blank) — may represent pre-calculated average score for the zone.</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2781566419"/>
                  </a:ext>
                </a:extLst>
              </a:tr>
              <a:tr h="108627">
                <a:tc>
                  <a:txBody>
                    <a:bodyPr/>
                    <a:lstStyle/>
                    <a:p>
                      <a:pPr algn="l" fontAlgn="ctr"/>
                      <a:r>
                        <a:rPr lang="en-IN" sz="500" u="none" strike="noStrike">
                          <a:effectLst/>
                        </a:rPr>
                        <a:t>Location_Country</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Usually “India” (or country where the store operates).</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437885490"/>
                  </a:ext>
                </a:extLst>
              </a:tr>
              <a:tr h="108627">
                <a:tc>
                  <a:txBody>
                    <a:bodyPr/>
                    <a:lstStyle/>
                    <a:p>
                      <a:pPr algn="l" fontAlgn="b"/>
                      <a:endParaRPr lang="en-001" sz="500" b="0" i="0" u="none" strike="noStrike">
                        <a:solidFill>
                          <a:srgbClr val="000000"/>
                        </a:solidFill>
                        <a:effectLst/>
                        <a:latin typeface="Calibri" panose="020F0502020204030204" pitchFamily="34" charset="0"/>
                      </a:endParaRPr>
                    </a:p>
                  </a:txBody>
                  <a:tcPr marL="4105" marR="4105" marT="4105" marB="0" anchor="b"/>
                </a:tc>
                <a:tc>
                  <a:txBody>
                    <a:bodyPr/>
                    <a:lstStyle/>
                    <a:p>
                      <a:pPr algn="l" fontAlgn="b"/>
                      <a:endParaRPr lang="en-001" sz="500" b="0" i="0" u="none" strike="noStrike">
                        <a:solidFill>
                          <a:srgbClr val="000000"/>
                        </a:solidFill>
                        <a:effectLst/>
                        <a:latin typeface="Calibri" panose="020F0502020204030204" pitchFamily="34" charset="0"/>
                      </a:endParaRPr>
                    </a:p>
                  </a:txBody>
                  <a:tcPr marL="4105" marR="4105" marT="4105" marB="0" anchor="b"/>
                </a:tc>
                <a:extLst>
                  <a:ext uri="{0D108BD9-81ED-4DB2-BD59-A6C34878D82A}">
                    <a16:rowId xmlns:a16="http://schemas.microsoft.com/office/drawing/2014/main" val="3664718256"/>
                  </a:ext>
                </a:extLst>
              </a:tr>
              <a:tr h="108627">
                <a:tc>
                  <a:txBody>
                    <a:bodyPr/>
                    <a:lstStyle/>
                    <a:p>
                      <a:pPr algn="l" fontAlgn="ctr"/>
                      <a:r>
                        <a:rPr lang="en-IN" sz="500" u="none" strike="noStrike">
                          <a:effectLst/>
                        </a:rPr>
                        <a:t>Auditor Demographics</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b"/>
                      <a:endParaRPr lang="en-001" sz="500" b="0" i="0" u="none" strike="noStrike">
                        <a:solidFill>
                          <a:srgbClr val="000000"/>
                        </a:solidFill>
                        <a:effectLst/>
                        <a:latin typeface="Calibri" panose="020F0502020204030204" pitchFamily="34" charset="0"/>
                      </a:endParaRPr>
                    </a:p>
                  </a:txBody>
                  <a:tcPr marL="4105" marR="4105" marT="4105" marB="0" anchor="b"/>
                </a:tc>
                <a:extLst>
                  <a:ext uri="{0D108BD9-81ED-4DB2-BD59-A6C34878D82A}">
                    <a16:rowId xmlns:a16="http://schemas.microsoft.com/office/drawing/2014/main" val="1917111054"/>
                  </a:ext>
                </a:extLst>
              </a:tr>
              <a:tr h="108627">
                <a:tc>
                  <a:txBody>
                    <a:bodyPr/>
                    <a:lstStyle/>
                    <a:p>
                      <a:pPr algn="ctr" fontAlgn="ctr"/>
                      <a:r>
                        <a:rPr lang="en-IN" sz="500" u="none" strike="noStrike">
                          <a:effectLst/>
                        </a:rPr>
                        <a:t>Column</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ctr" fontAlgn="ctr"/>
                      <a:r>
                        <a:rPr lang="en-IN" sz="500" u="none" strike="noStrike">
                          <a:effectLst/>
                        </a:rPr>
                        <a:t>Description</a:t>
                      </a:r>
                      <a:endParaRPr lang="en-IN" sz="500" b="1"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2242458262"/>
                  </a:ext>
                </a:extLst>
              </a:tr>
              <a:tr h="108627">
                <a:tc>
                  <a:txBody>
                    <a:bodyPr/>
                    <a:lstStyle/>
                    <a:p>
                      <a:pPr algn="l" fontAlgn="ctr"/>
                      <a:r>
                        <a:rPr lang="en-IN" sz="500" u="none" strike="noStrike">
                          <a:effectLst/>
                        </a:rPr>
                        <a:t>Age of the Auditor</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Age of the mystery shopper/auditor.</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3306913918"/>
                  </a:ext>
                </a:extLst>
              </a:tr>
              <a:tr h="108627">
                <a:tc>
                  <a:txBody>
                    <a:bodyPr/>
                    <a:lstStyle/>
                    <a:p>
                      <a:pPr algn="l" fontAlgn="ctr"/>
                      <a:r>
                        <a:rPr lang="en-IN" sz="500" u="none" strike="noStrike">
                          <a:effectLst/>
                        </a:rPr>
                        <a:t>Gender of Auditor</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Gender of the person conducting the audit.</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3136114423"/>
                  </a:ext>
                </a:extLst>
              </a:tr>
              <a:tr h="108627">
                <a:tc>
                  <a:txBody>
                    <a:bodyPr/>
                    <a:lstStyle/>
                    <a:p>
                      <a:pPr algn="l" fontAlgn="ctr"/>
                      <a:r>
                        <a:rPr lang="en-US" sz="500" u="none" strike="noStrike">
                          <a:effectLst/>
                        </a:rPr>
                        <a:t>Please describe what you were wearing during your visit.</a:t>
                      </a:r>
                      <a:endParaRPr lang="en-US"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For identification and audit verification.</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3566538953"/>
                  </a:ext>
                </a:extLst>
              </a:tr>
              <a:tr h="108627">
                <a:tc>
                  <a:txBody>
                    <a:bodyPr/>
                    <a:lstStyle/>
                    <a:p>
                      <a:pPr algn="l" fontAlgn="b"/>
                      <a:endParaRPr lang="en-001" sz="500" b="0" i="0" u="none" strike="noStrike">
                        <a:solidFill>
                          <a:srgbClr val="000000"/>
                        </a:solidFill>
                        <a:effectLst/>
                        <a:latin typeface="Calibri" panose="020F0502020204030204" pitchFamily="34" charset="0"/>
                      </a:endParaRPr>
                    </a:p>
                  </a:txBody>
                  <a:tcPr marL="4105" marR="4105" marT="4105" marB="0" anchor="b"/>
                </a:tc>
                <a:tc>
                  <a:txBody>
                    <a:bodyPr/>
                    <a:lstStyle/>
                    <a:p>
                      <a:pPr algn="l" fontAlgn="b"/>
                      <a:endParaRPr lang="en-001" sz="500" b="0" i="0" u="none" strike="noStrike">
                        <a:solidFill>
                          <a:srgbClr val="000000"/>
                        </a:solidFill>
                        <a:effectLst/>
                        <a:latin typeface="Calibri" panose="020F0502020204030204" pitchFamily="34" charset="0"/>
                      </a:endParaRPr>
                    </a:p>
                  </a:txBody>
                  <a:tcPr marL="4105" marR="4105" marT="4105" marB="0" anchor="b"/>
                </a:tc>
                <a:extLst>
                  <a:ext uri="{0D108BD9-81ED-4DB2-BD59-A6C34878D82A}">
                    <a16:rowId xmlns:a16="http://schemas.microsoft.com/office/drawing/2014/main" val="1642431313"/>
                  </a:ext>
                </a:extLst>
              </a:tr>
              <a:tr h="108627">
                <a:tc>
                  <a:txBody>
                    <a:bodyPr/>
                    <a:lstStyle/>
                    <a:p>
                      <a:pPr algn="l" fontAlgn="ctr"/>
                      <a:r>
                        <a:rPr lang="en-IN" sz="500" u="none" strike="noStrike">
                          <a:effectLst/>
                        </a:rPr>
                        <a:t>Visit Timing</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b"/>
                      <a:endParaRPr lang="en-001" sz="500" b="0" i="0" u="none" strike="noStrike">
                        <a:solidFill>
                          <a:srgbClr val="000000"/>
                        </a:solidFill>
                        <a:effectLst/>
                        <a:latin typeface="Calibri" panose="020F0502020204030204" pitchFamily="34" charset="0"/>
                      </a:endParaRPr>
                    </a:p>
                  </a:txBody>
                  <a:tcPr marL="4105" marR="4105" marT="4105" marB="0" anchor="b"/>
                </a:tc>
                <a:extLst>
                  <a:ext uri="{0D108BD9-81ED-4DB2-BD59-A6C34878D82A}">
                    <a16:rowId xmlns:a16="http://schemas.microsoft.com/office/drawing/2014/main" val="3633416260"/>
                  </a:ext>
                </a:extLst>
              </a:tr>
              <a:tr h="108627">
                <a:tc>
                  <a:txBody>
                    <a:bodyPr/>
                    <a:lstStyle/>
                    <a:p>
                      <a:pPr algn="ctr" fontAlgn="ctr"/>
                      <a:r>
                        <a:rPr lang="en-IN" sz="500" u="none" strike="noStrike">
                          <a:effectLst/>
                        </a:rPr>
                        <a:t>Column</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ctr" fontAlgn="ctr"/>
                      <a:r>
                        <a:rPr lang="en-IN" sz="500" u="none" strike="noStrike">
                          <a:effectLst/>
                        </a:rPr>
                        <a:t>Description</a:t>
                      </a:r>
                      <a:endParaRPr lang="en-IN" sz="500" b="1"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1385221378"/>
                  </a:ext>
                </a:extLst>
              </a:tr>
              <a:tr h="108627">
                <a:tc>
                  <a:txBody>
                    <a:bodyPr/>
                    <a:lstStyle/>
                    <a:p>
                      <a:pPr algn="l" fontAlgn="ctr"/>
                      <a:r>
                        <a:rPr lang="en-IN" sz="500" u="none" strike="noStrike">
                          <a:effectLst/>
                        </a:rPr>
                        <a:t>Time of entry:</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Entry time into the store.</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2770337554"/>
                  </a:ext>
                </a:extLst>
              </a:tr>
              <a:tr h="108627">
                <a:tc>
                  <a:txBody>
                    <a:bodyPr/>
                    <a:lstStyle/>
                    <a:p>
                      <a:pPr algn="l" fontAlgn="ctr"/>
                      <a:r>
                        <a:rPr lang="en-IN" sz="500" u="none" strike="noStrike">
                          <a:effectLst/>
                        </a:rPr>
                        <a:t>Time of exit:</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IN" sz="500" u="none" strike="noStrike">
                          <a:effectLst/>
                        </a:rPr>
                        <a:t>Exit time.</a:t>
                      </a:r>
                      <a:endParaRPr lang="en-IN"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840061897"/>
                  </a:ext>
                </a:extLst>
              </a:tr>
              <a:tr h="108627">
                <a:tc>
                  <a:txBody>
                    <a:bodyPr/>
                    <a:lstStyle/>
                    <a:p>
                      <a:pPr algn="l" fontAlgn="ctr"/>
                      <a:r>
                        <a:rPr lang="en-IN" sz="500" u="none" strike="noStrike">
                          <a:effectLst/>
                        </a:rPr>
                        <a:t>Duration of visit:</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Calculated time spent in the store.</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2785925807"/>
                  </a:ext>
                </a:extLst>
              </a:tr>
              <a:tr h="108627">
                <a:tc>
                  <a:txBody>
                    <a:bodyPr/>
                    <a:lstStyle/>
                    <a:p>
                      <a:pPr algn="l" fontAlgn="b"/>
                      <a:endParaRPr lang="en-001" sz="500" b="0" i="0" u="none" strike="noStrike">
                        <a:solidFill>
                          <a:srgbClr val="000000"/>
                        </a:solidFill>
                        <a:effectLst/>
                        <a:latin typeface="Calibri" panose="020F0502020204030204" pitchFamily="34" charset="0"/>
                      </a:endParaRPr>
                    </a:p>
                  </a:txBody>
                  <a:tcPr marL="4105" marR="4105" marT="4105" marB="0" anchor="b"/>
                </a:tc>
                <a:tc>
                  <a:txBody>
                    <a:bodyPr/>
                    <a:lstStyle/>
                    <a:p>
                      <a:pPr algn="l" fontAlgn="b"/>
                      <a:endParaRPr lang="en-001" sz="500" b="0" i="0" u="none" strike="noStrike">
                        <a:solidFill>
                          <a:srgbClr val="000000"/>
                        </a:solidFill>
                        <a:effectLst/>
                        <a:latin typeface="Calibri" panose="020F0502020204030204" pitchFamily="34" charset="0"/>
                      </a:endParaRPr>
                    </a:p>
                  </a:txBody>
                  <a:tcPr marL="4105" marR="4105" marT="4105" marB="0" anchor="b"/>
                </a:tc>
                <a:extLst>
                  <a:ext uri="{0D108BD9-81ED-4DB2-BD59-A6C34878D82A}">
                    <a16:rowId xmlns:a16="http://schemas.microsoft.com/office/drawing/2014/main" val="1316581268"/>
                  </a:ext>
                </a:extLst>
              </a:tr>
              <a:tr h="108627">
                <a:tc>
                  <a:txBody>
                    <a:bodyPr/>
                    <a:lstStyle/>
                    <a:p>
                      <a:pPr algn="l" fontAlgn="ctr"/>
                      <a:r>
                        <a:rPr lang="en-IN" sz="500" u="none" strike="noStrike">
                          <a:effectLst/>
                        </a:rPr>
                        <a:t>Staff Information</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b"/>
                      <a:endParaRPr lang="en-001" sz="500" b="0" i="0" u="none" strike="noStrike">
                        <a:solidFill>
                          <a:srgbClr val="000000"/>
                        </a:solidFill>
                        <a:effectLst/>
                        <a:latin typeface="Calibri" panose="020F0502020204030204" pitchFamily="34" charset="0"/>
                      </a:endParaRPr>
                    </a:p>
                  </a:txBody>
                  <a:tcPr marL="4105" marR="4105" marT="4105" marB="0" anchor="b"/>
                </a:tc>
                <a:extLst>
                  <a:ext uri="{0D108BD9-81ED-4DB2-BD59-A6C34878D82A}">
                    <a16:rowId xmlns:a16="http://schemas.microsoft.com/office/drawing/2014/main" val="780490404"/>
                  </a:ext>
                </a:extLst>
              </a:tr>
              <a:tr h="108627">
                <a:tc>
                  <a:txBody>
                    <a:bodyPr/>
                    <a:lstStyle/>
                    <a:p>
                      <a:pPr algn="ctr" fontAlgn="ctr"/>
                      <a:r>
                        <a:rPr lang="en-IN" sz="500" u="none" strike="noStrike">
                          <a:effectLst/>
                        </a:rPr>
                        <a:t>Column</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ctr" fontAlgn="ctr"/>
                      <a:r>
                        <a:rPr lang="en-IN" sz="500" u="none" strike="noStrike">
                          <a:effectLst/>
                        </a:rPr>
                        <a:t>Description</a:t>
                      </a:r>
                      <a:endParaRPr lang="en-IN" sz="500" b="1"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1454595858"/>
                  </a:ext>
                </a:extLst>
              </a:tr>
              <a:tr h="108627">
                <a:tc>
                  <a:txBody>
                    <a:bodyPr/>
                    <a:lstStyle/>
                    <a:p>
                      <a:pPr algn="l" fontAlgn="ctr"/>
                      <a:r>
                        <a:rPr lang="en-US" sz="500" u="none" strike="noStrike">
                          <a:effectLst/>
                        </a:rPr>
                        <a:t>Name of the Style Advisor who attended to you:</a:t>
                      </a:r>
                      <a:endParaRPr lang="en-US"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IN" sz="500" u="none" strike="noStrike">
                          <a:effectLst/>
                        </a:rPr>
                        <a:t>Staff member’s name.</a:t>
                      </a:r>
                      <a:endParaRPr lang="en-IN"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1336381160"/>
                  </a:ext>
                </a:extLst>
              </a:tr>
              <a:tr h="108627">
                <a:tc>
                  <a:txBody>
                    <a:bodyPr/>
                    <a:lstStyle/>
                    <a:p>
                      <a:pPr algn="l" fontAlgn="ctr"/>
                      <a:r>
                        <a:rPr lang="en-IN" sz="500" u="none" strike="noStrike">
                          <a:effectLst/>
                        </a:rPr>
                        <a:t>Physical description columns</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Detailed physical description of the staff for verification (e.g. appearance, attire).</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364860944"/>
                  </a:ext>
                </a:extLst>
              </a:tr>
              <a:tr h="108627">
                <a:tc>
                  <a:txBody>
                    <a:bodyPr/>
                    <a:lstStyle/>
                    <a:p>
                      <a:pPr algn="l" fontAlgn="b"/>
                      <a:endParaRPr lang="en-001" sz="500" b="0" i="0" u="none" strike="noStrike">
                        <a:solidFill>
                          <a:srgbClr val="000000"/>
                        </a:solidFill>
                        <a:effectLst/>
                        <a:latin typeface="Calibri" panose="020F0502020204030204" pitchFamily="34" charset="0"/>
                      </a:endParaRPr>
                    </a:p>
                  </a:txBody>
                  <a:tcPr marL="4105" marR="4105" marT="4105" marB="0" anchor="b"/>
                </a:tc>
                <a:tc>
                  <a:txBody>
                    <a:bodyPr/>
                    <a:lstStyle/>
                    <a:p>
                      <a:pPr algn="l" fontAlgn="b"/>
                      <a:endParaRPr lang="en-001" sz="500" b="0" i="0" u="none" strike="noStrike">
                        <a:solidFill>
                          <a:srgbClr val="000000"/>
                        </a:solidFill>
                        <a:effectLst/>
                        <a:latin typeface="Calibri" panose="020F0502020204030204" pitchFamily="34" charset="0"/>
                      </a:endParaRPr>
                    </a:p>
                  </a:txBody>
                  <a:tcPr marL="4105" marR="4105" marT="4105" marB="0" anchor="b"/>
                </a:tc>
                <a:extLst>
                  <a:ext uri="{0D108BD9-81ED-4DB2-BD59-A6C34878D82A}">
                    <a16:rowId xmlns:a16="http://schemas.microsoft.com/office/drawing/2014/main" val="3211400580"/>
                  </a:ext>
                </a:extLst>
              </a:tr>
              <a:tr h="108627">
                <a:tc>
                  <a:txBody>
                    <a:bodyPr/>
                    <a:lstStyle/>
                    <a:p>
                      <a:pPr algn="l" fontAlgn="ctr"/>
                      <a:r>
                        <a:rPr lang="en-IN" sz="500" u="none" strike="noStrike">
                          <a:effectLst/>
                        </a:rPr>
                        <a:t>Detailed Question Sections</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l" fontAlgn="b"/>
                      <a:endParaRPr lang="en-001" sz="500" b="0" i="0" u="none" strike="noStrike">
                        <a:solidFill>
                          <a:srgbClr val="000000"/>
                        </a:solidFill>
                        <a:effectLst/>
                        <a:latin typeface="Calibri" panose="020F0502020204030204" pitchFamily="34" charset="0"/>
                      </a:endParaRPr>
                    </a:p>
                  </a:txBody>
                  <a:tcPr marL="4105" marR="4105" marT="4105" marB="0" anchor="b"/>
                </a:tc>
                <a:extLst>
                  <a:ext uri="{0D108BD9-81ED-4DB2-BD59-A6C34878D82A}">
                    <a16:rowId xmlns:a16="http://schemas.microsoft.com/office/drawing/2014/main" val="2627396144"/>
                  </a:ext>
                </a:extLst>
              </a:tr>
              <a:tr h="108627">
                <a:tc>
                  <a:txBody>
                    <a:bodyPr/>
                    <a:lstStyle/>
                    <a:p>
                      <a:pPr algn="ctr" fontAlgn="ctr"/>
                      <a:r>
                        <a:rPr lang="en-IN" sz="500" u="none" strike="noStrike">
                          <a:effectLst/>
                        </a:rPr>
                        <a:t>Theme</a:t>
                      </a:r>
                      <a:endParaRPr lang="en-IN" sz="500" b="1" i="0" u="none" strike="noStrike">
                        <a:solidFill>
                          <a:srgbClr val="000000"/>
                        </a:solidFill>
                        <a:effectLst/>
                        <a:latin typeface="Calibri" panose="020F0502020204030204" pitchFamily="34" charset="0"/>
                      </a:endParaRPr>
                    </a:p>
                  </a:txBody>
                  <a:tcPr marL="4105" marR="4105" marT="4105" marB="0" anchor="ctr"/>
                </a:tc>
                <a:tc>
                  <a:txBody>
                    <a:bodyPr/>
                    <a:lstStyle/>
                    <a:p>
                      <a:pPr algn="ctr" fontAlgn="ctr"/>
                      <a:r>
                        <a:rPr lang="en-IN" sz="500" u="none" strike="noStrike">
                          <a:effectLst/>
                        </a:rPr>
                        <a:t>Example Questions</a:t>
                      </a:r>
                      <a:endParaRPr lang="en-IN" sz="500" b="1"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2478304297"/>
                  </a:ext>
                </a:extLst>
              </a:tr>
              <a:tr h="108627">
                <a:tc>
                  <a:txBody>
                    <a:bodyPr/>
                    <a:lstStyle/>
                    <a:p>
                      <a:pPr algn="l" fontAlgn="ctr"/>
                      <a:r>
                        <a:rPr lang="en-IN" sz="500" u="none" strike="noStrike">
                          <a:effectLst/>
                        </a:rPr>
                        <a:t>Store Ambiance</a:t>
                      </a:r>
                      <a:endParaRPr lang="en-IN" sz="500" b="0"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Cleanliness, signage, lighting, merchandise display.</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2500225968"/>
                  </a:ext>
                </a:extLst>
              </a:tr>
              <a:tr h="108627">
                <a:tc>
                  <a:txBody>
                    <a:bodyPr/>
                    <a:lstStyle/>
                    <a:p>
                      <a:pPr algn="l" fontAlgn="ctr"/>
                      <a:r>
                        <a:rPr lang="en-IN" sz="500" u="none" strike="noStrike">
                          <a:effectLst/>
                        </a:rPr>
                        <a:t>First Impressions</a:t>
                      </a:r>
                      <a:endParaRPr lang="en-IN" sz="500" b="0"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Greeting, wait time, temperature, aroma, comfort.</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4271777220"/>
                  </a:ext>
                </a:extLst>
              </a:tr>
              <a:tr h="108627">
                <a:tc>
                  <a:txBody>
                    <a:bodyPr/>
                    <a:lstStyle/>
                    <a:p>
                      <a:pPr algn="l" fontAlgn="ctr"/>
                      <a:r>
                        <a:rPr lang="en-IN" sz="500" u="none" strike="noStrike">
                          <a:effectLst/>
                        </a:rPr>
                        <a:t>Discovery</a:t>
                      </a:r>
                      <a:endParaRPr lang="en-IN" sz="500" b="0"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Did the advisor understand customer needs?</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2846331370"/>
                  </a:ext>
                </a:extLst>
              </a:tr>
              <a:tr h="108627">
                <a:tc>
                  <a:txBody>
                    <a:bodyPr/>
                    <a:lstStyle/>
                    <a:p>
                      <a:pPr algn="l" fontAlgn="ctr"/>
                      <a:r>
                        <a:rPr lang="en-IN" sz="500" u="none" strike="noStrike">
                          <a:effectLst/>
                        </a:rPr>
                        <a:t>Product Presentation</a:t>
                      </a:r>
                      <a:endParaRPr lang="en-IN" sz="500" b="0"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Did the advisor describe benefits, craftsmanship, brand story?</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3336766582"/>
                  </a:ext>
                </a:extLst>
              </a:tr>
              <a:tr h="108627">
                <a:tc>
                  <a:txBody>
                    <a:bodyPr/>
                    <a:lstStyle/>
                    <a:p>
                      <a:pPr algn="l" fontAlgn="ctr"/>
                      <a:r>
                        <a:rPr lang="en-IN" sz="500" u="none" strike="noStrike">
                          <a:effectLst/>
                        </a:rPr>
                        <a:t>Trial Experience &amp; Recommendations</a:t>
                      </a:r>
                      <a:endParaRPr lang="en-IN" sz="500" b="0"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Did the advisor offer trials, compliments, cleaning, up-sell?</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1548639102"/>
                  </a:ext>
                </a:extLst>
              </a:tr>
              <a:tr h="108627">
                <a:tc>
                  <a:txBody>
                    <a:bodyPr/>
                    <a:lstStyle/>
                    <a:p>
                      <a:pPr algn="l" fontAlgn="ctr"/>
                      <a:r>
                        <a:rPr lang="en-IN" sz="500" u="none" strike="noStrike">
                          <a:effectLst/>
                        </a:rPr>
                        <a:t>Objection Handling</a:t>
                      </a:r>
                      <a:endParaRPr lang="en-IN" sz="500" b="0"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How objections or concerns were managed.</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2526562661"/>
                  </a:ext>
                </a:extLst>
              </a:tr>
              <a:tr h="108627">
                <a:tc>
                  <a:txBody>
                    <a:bodyPr/>
                    <a:lstStyle/>
                    <a:p>
                      <a:pPr algn="l" fontAlgn="ctr"/>
                      <a:r>
                        <a:rPr lang="en-IN" sz="500" u="none" strike="noStrike">
                          <a:effectLst/>
                        </a:rPr>
                        <a:t>Closure &amp; Follow-up</a:t>
                      </a:r>
                      <a:endParaRPr lang="en-IN" sz="500" b="0"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a:effectLst/>
                        </a:rPr>
                        <a:t>Did the advisor mention loyalty programs, offers, say thank you, accompany to exit?</a:t>
                      </a:r>
                      <a:endParaRPr lang="en-US" sz="500" b="0" i="0" u="none" strike="noStrike">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2331284829"/>
                  </a:ext>
                </a:extLst>
              </a:tr>
              <a:tr h="108627">
                <a:tc>
                  <a:txBody>
                    <a:bodyPr/>
                    <a:lstStyle/>
                    <a:p>
                      <a:pPr algn="l" fontAlgn="ctr"/>
                      <a:r>
                        <a:rPr lang="en-IN" sz="500" u="none" strike="noStrike">
                          <a:effectLst/>
                        </a:rPr>
                        <a:t>Customer Satisfaction</a:t>
                      </a:r>
                      <a:endParaRPr lang="en-IN" sz="500" b="0" i="0" u="none" strike="noStrike">
                        <a:solidFill>
                          <a:srgbClr val="000000"/>
                        </a:solidFill>
                        <a:effectLst/>
                        <a:latin typeface="Calibri" panose="020F0502020204030204" pitchFamily="34" charset="0"/>
                      </a:endParaRPr>
                    </a:p>
                  </a:txBody>
                  <a:tcPr marL="4105" marR="4105" marT="4105" marB="0" anchor="ctr"/>
                </a:tc>
                <a:tc>
                  <a:txBody>
                    <a:bodyPr/>
                    <a:lstStyle/>
                    <a:p>
                      <a:pPr algn="l" fontAlgn="ctr"/>
                      <a:r>
                        <a:rPr lang="en-US" sz="500" u="none" strike="noStrike" dirty="0">
                          <a:effectLst/>
                        </a:rPr>
                        <a:t>Ratings (1–10) for likelihood to return and overall assistance.</a:t>
                      </a:r>
                      <a:endParaRPr lang="en-US" sz="500" b="0" i="0" u="none" strike="noStrike" dirty="0">
                        <a:solidFill>
                          <a:srgbClr val="000000"/>
                        </a:solidFill>
                        <a:effectLst/>
                        <a:latin typeface="Calibri" panose="020F0502020204030204" pitchFamily="34" charset="0"/>
                      </a:endParaRPr>
                    </a:p>
                  </a:txBody>
                  <a:tcPr marL="4105" marR="4105" marT="4105" marB="0" anchor="ctr"/>
                </a:tc>
                <a:extLst>
                  <a:ext uri="{0D108BD9-81ED-4DB2-BD59-A6C34878D82A}">
                    <a16:rowId xmlns:a16="http://schemas.microsoft.com/office/drawing/2014/main" val="480007066"/>
                  </a:ext>
                </a:extLst>
              </a:tr>
            </a:tbl>
          </a:graphicData>
        </a:graphic>
      </p:graphicFrame>
    </p:spTree>
    <p:extLst>
      <p:ext uri="{BB962C8B-B14F-4D97-AF65-F5344CB8AC3E}">
        <p14:creationId xmlns:p14="http://schemas.microsoft.com/office/powerpoint/2010/main" val="1023478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5DC8C-E97C-FF29-92AB-DF327F2CF7F5}"/>
              </a:ext>
            </a:extLst>
          </p:cNvPr>
          <p:cNvSpPr>
            <a:spLocks noGrp="1"/>
          </p:cNvSpPr>
          <p:nvPr>
            <p:ph type="title"/>
          </p:nvPr>
        </p:nvSpPr>
        <p:spPr/>
        <p:txBody>
          <a:bodyPr/>
          <a:lstStyle/>
          <a:p>
            <a:r>
              <a:rPr lang="en-IN" sz="1800" b="1" i="0" u="none" strike="noStrike" baseline="0" dirty="0">
                <a:solidFill>
                  <a:srgbClr val="000000"/>
                </a:solidFill>
                <a:latin typeface="Times New Roman" panose="02020603050405020304" pitchFamily="18" charset="0"/>
              </a:rPr>
              <a:t>Performance Grading </a:t>
            </a:r>
            <a:endParaRPr lang="LID4096" dirty="0"/>
          </a:p>
        </p:txBody>
      </p:sp>
      <p:sp>
        <p:nvSpPr>
          <p:cNvPr id="3" name="Content Placeholder 2">
            <a:extLst>
              <a:ext uri="{FF2B5EF4-FFF2-40B4-BE49-F238E27FC236}">
                <a16:creationId xmlns:a16="http://schemas.microsoft.com/office/drawing/2014/main" id="{82402E8D-A8A7-38E0-91EA-250F917123E6}"/>
              </a:ext>
            </a:extLst>
          </p:cNvPr>
          <p:cNvSpPr>
            <a:spLocks noGrp="1"/>
          </p:cNvSpPr>
          <p:nvPr>
            <p:ph idx="1"/>
          </p:nvPr>
        </p:nvSpPr>
        <p:spPr/>
        <p:txBody>
          <a:bodyPr/>
          <a:lstStyle/>
          <a:p>
            <a:r>
              <a:rPr lang="en-US" sz="1800" b="1" i="0" u="none" strike="noStrike" baseline="0" dirty="0">
                <a:solidFill>
                  <a:srgbClr val="000000"/>
                </a:solidFill>
                <a:latin typeface="Times New Roman" panose="02020603050405020304" pitchFamily="18" charset="0"/>
              </a:rPr>
              <a:t>High Performer</a:t>
            </a:r>
            <a:r>
              <a:rPr lang="en-US" sz="1800" b="0" i="0" u="none" strike="noStrike" baseline="0" dirty="0">
                <a:solidFill>
                  <a:srgbClr val="000000"/>
                </a:solidFill>
                <a:latin typeface="Times New Roman" panose="02020603050405020304" pitchFamily="18" charset="0"/>
              </a:rPr>
              <a:t>: 90% - 100% </a:t>
            </a:r>
          </a:p>
          <a:p>
            <a:r>
              <a:rPr lang="en-US" sz="1800" b="1" i="0" u="none" strike="noStrike" baseline="0" dirty="0">
                <a:solidFill>
                  <a:srgbClr val="000000"/>
                </a:solidFill>
                <a:latin typeface="Times New Roman" panose="02020603050405020304" pitchFamily="18" charset="0"/>
              </a:rPr>
              <a:t>Average Performer</a:t>
            </a:r>
            <a:r>
              <a:rPr lang="en-US" sz="1800" b="0" i="0" u="none" strike="noStrike" baseline="0" dirty="0">
                <a:solidFill>
                  <a:srgbClr val="000000"/>
                </a:solidFill>
                <a:latin typeface="Times New Roman" panose="02020603050405020304" pitchFamily="18" charset="0"/>
              </a:rPr>
              <a:t>: 70% - 89% </a:t>
            </a:r>
          </a:p>
          <a:p>
            <a:r>
              <a:rPr lang="en-US" sz="1800" b="1" i="0" u="none" strike="noStrike" baseline="0" dirty="0">
                <a:solidFill>
                  <a:srgbClr val="000000"/>
                </a:solidFill>
                <a:latin typeface="Times New Roman" panose="02020603050405020304" pitchFamily="18" charset="0"/>
              </a:rPr>
              <a:t>Low Performer</a:t>
            </a:r>
            <a:r>
              <a:rPr lang="en-US" sz="1800" b="0" i="0" u="none" strike="noStrike" baseline="0" dirty="0">
                <a:solidFill>
                  <a:srgbClr val="000000"/>
                </a:solidFill>
                <a:latin typeface="Times New Roman" panose="02020603050405020304" pitchFamily="18" charset="0"/>
              </a:rPr>
              <a:t>: 50% - 69% </a:t>
            </a:r>
          </a:p>
          <a:p>
            <a:r>
              <a:rPr lang="en-US" sz="1800" b="1" i="0" u="none" strike="noStrike" baseline="0" dirty="0">
                <a:solidFill>
                  <a:srgbClr val="000000"/>
                </a:solidFill>
                <a:latin typeface="Times New Roman" panose="02020603050405020304" pitchFamily="18" charset="0"/>
              </a:rPr>
              <a:t>Bottom Performer</a:t>
            </a:r>
            <a:r>
              <a:rPr lang="en-US" sz="1800" b="0" i="0" u="none" strike="noStrike" baseline="0" dirty="0">
                <a:solidFill>
                  <a:srgbClr val="000000"/>
                </a:solidFill>
                <a:latin typeface="Times New Roman" panose="02020603050405020304" pitchFamily="18" charset="0"/>
              </a:rPr>
              <a:t>: Below 50% </a:t>
            </a:r>
          </a:p>
          <a:p>
            <a:pPr marL="0" indent="0">
              <a:buNone/>
            </a:pPr>
            <a:r>
              <a:rPr lang="en-US" sz="1800" dirty="0">
                <a:solidFill>
                  <a:srgbClr val="000000"/>
                </a:solidFill>
                <a:latin typeface="Times New Roman" panose="02020603050405020304" pitchFamily="18" charset="0"/>
              </a:rPr>
              <a:t>The performance has been graded based on the above metrics.</a:t>
            </a:r>
          </a:p>
          <a:p>
            <a:pPr marL="0" indent="0">
              <a:buNone/>
            </a:pPr>
            <a:r>
              <a:rPr lang="en-US" sz="1800" dirty="0">
                <a:solidFill>
                  <a:srgbClr val="000000"/>
                </a:solidFill>
                <a:latin typeface="Times New Roman" panose="02020603050405020304" pitchFamily="18" charset="0"/>
              </a:rPr>
              <a:t>Below are the zone wise performance of the Advisors:</a:t>
            </a:r>
          </a:p>
          <a:p>
            <a:pPr marL="0" indent="0">
              <a:buNone/>
            </a:pPr>
            <a:endParaRPr lang="en-US" sz="1800" dirty="0">
              <a:solidFill>
                <a:srgbClr val="000000"/>
              </a:solidFill>
              <a:latin typeface="Times New Roman" panose="02020603050405020304" pitchFamily="18" charset="0"/>
            </a:endParaRPr>
          </a:p>
        </p:txBody>
      </p:sp>
      <p:graphicFrame>
        <p:nvGraphicFramePr>
          <p:cNvPr id="5" name="Table 4">
            <a:extLst>
              <a:ext uri="{FF2B5EF4-FFF2-40B4-BE49-F238E27FC236}">
                <a16:creationId xmlns:a16="http://schemas.microsoft.com/office/drawing/2014/main" id="{57DFE7FF-4AA7-3665-DFB7-EE00DD47FF22}"/>
              </a:ext>
            </a:extLst>
          </p:cNvPr>
          <p:cNvGraphicFramePr>
            <a:graphicFrameLocks noGrp="1"/>
          </p:cNvGraphicFramePr>
          <p:nvPr>
            <p:extLst>
              <p:ext uri="{D42A27DB-BD31-4B8C-83A1-F6EECF244321}">
                <p14:modId xmlns:p14="http://schemas.microsoft.com/office/powerpoint/2010/main" val="903791529"/>
              </p:ext>
            </p:extLst>
          </p:nvPr>
        </p:nvGraphicFramePr>
        <p:xfrm>
          <a:off x="906887" y="4001294"/>
          <a:ext cx="6135771" cy="1737768"/>
        </p:xfrm>
        <a:graphic>
          <a:graphicData uri="http://schemas.openxmlformats.org/drawingml/2006/table">
            <a:tbl>
              <a:tblPr>
                <a:tableStyleId>{5C22544A-7EE6-4342-B048-85BDC9FD1C3A}</a:tableStyleId>
              </a:tblPr>
              <a:tblGrid>
                <a:gridCol w="1173069">
                  <a:extLst>
                    <a:ext uri="{9D8B030D-6E8A-4147-A177-3AD203B41FA5}">
                      <a16:colId xmlns:a16="http://schemas.microsoft.com/office/drawing/2014/main" val="696271501"/>
                    </a:ext>
                  </a:extLst>
                </a:gridCol>
                <a:gridCol w="1392334">
                  <a:extLst>
                    <a:ext uri="{9D8B030D-6E8A-4147-A177-3AD203B41FA5}">
                      <a16:colId xmlns:a16="http://schemas.microsoft.com/office/drawing/2014/main" val="711628529"/>
                    </a:ext>
                  </a:extLst>
                </a:gridCol>
                <a:gridCol w="1344826">
                  <a:extLst>
                    <a:ext uri="{9D8B030D-6E8A-4147-A177-3AD203B41FA5}">
                      <a16:colId xmlns:a16="http://schemas.microsoft.com/office/drawing/2014/main" val="3373165963"/>
                    </a:ext>
                  </a:extLst>
                </a:gridCol>
                <a:gridCol w="1129216">
                  <a:extLst>
                    <a:ext uri="{9D8B030D-6E8A-4147-A177-3AD203B41FA5}">
                      <a16:colId xmlns:a16="http://schemas.microsoft.com/office/drawing/2014/main" val="255017179"/>
                    </a:ext>
                  </a:extLst>
                </a:gridCol>
                <a:gridCol w="1096326">
                  <a:extLst>
                    <a:ext uri="{9D8B030D-6E8A-4147-A177-3AD203B41FA5}">
                      <a16:colId xmlns:a16="http://schemas.microsoft.com/office/drawing/2014/main" val="1379987950"/>
                    </a:ext>
                  </a:extLst>
                </a:gridCol>
              </a:tblGrid>
              <a:tr h="289628">
                <a:tc>
                  <a:txBody>
                    <a:bodyPr/>
                    <a:lstStyle/>
                    <a:p>
                      <a:pPr algn="l" fontAlgn="b"/>
                      <a:r>
                        <a:rPr lang="en-IN" sz="1100" u="none" strike="noStrike" dirty="0">
                          <a:effectLst/>
                        </a:rPr>
                        <a:t>Zones</a:t>
                      </a:r>
                      <a:endParaRPr lang="en-IN" sz="11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IN" sz="1100" u="none" strike="noStrike" dirty="0">
                          <a:effectLst/>
                        </a:rPr>
                        <a:t>Average Performer</a:t>
                      </a:r>
                      <a:endParaRPr lang="en-IN" sz="11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IN" sz="1100" u="none" strike="noStrike">
                          <a:effectLst/>
                        </a:rPr>
                        <a:t>Bottom Performer</a:t>
                      </a:r>
                      <a:endParaRPr lang="en-IN"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100" u="none" strike="noStrike">
                          <a:effectLst/>
                        </a:rPr>
                        <a:t>High Performer</a:t>
                      </a:r>
                      <a:endParaRPr lang="en-IN"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100" u="none" strike="noStrike">
                          <a:effectLst/>
                        </a:rPr>
                        <a:t>Low Performer</a:t>
                      </a:r>
                      <a:endParaRPr lang="en-IN" sz="11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3493172"/>
                  </a:ext>
                </a:extLst>
              </a:tr>
              <a:tr h="289628">
                <a:tc>
                  <a:txBody>
                    <a:bodyPr/>
                    <a:lstStyle/>
                    <a:p>
                      <a:pPr algn="l" fontAlgn="b"/>
                      <a:r>
                        <a:rPr lang="en-IN" sz="1100" u="none" strike="noStrike">
                          <a:effectLst/>
                        </a:rPr>
                        <a:t>East</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a:effectLst/>
                        </a:rPr>
                        <a:t>1.00</a:t>
                      </a:r>
                      <a:endParaRPr lang="en-001"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a:effectLst/>
                        </a:rPr>
                        <a:t>1.00</a:t>
                      </a:r>
                      <a:endParaRPr lang="en-001"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a:effectLst/>
                        </a:rPr>
                        <a:t>2.00</a:t>
                      </a:r>
                      <a:endParaRPr lang="en-001"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a:effectLst/>
                        </a:rPr>
                        <a:t>3.00</a:t>
                      </a:r>
                      <a:endParaRPr lang="en-001"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96687188"/>
                  </a:ext>
                </a:extLst>
              </a:tr>
              <a:tr h="289628">
                <a:tc>
                  <a:txBody>
                    <a:bodyPr/>
                    <a:lstStyle/>
                    <a:p>
                      <a:pPr algn="l" fontAlgn="b"/>
                      <a:r>
                        <a:rPr lang="en-IN" sz="1100" u="none" strike="noStrike">
                          <a:effectLst/>
                        </a:rPr>
                        <a:t>North</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a:effectLst/>
                        </a:rPr>
                        <a:t>9.00</a:t>
                      </a:r>
                      <a:endParaRPr lang="en-001"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a:effectLst/>
                        </a:rPr>
                        <a:t>1.00</a:t>
                      </a:r>
                      <a:endParaRPr lang="en-001"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a:effectLst/>
                        </a:rPr>
                        <a:t>4.00</a:t>
                      </a:r>
                      <a:endParaRPr lang="en-001"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a:effectLst/>
                        </a:rPr>
                        <a:t>5.00</a:t>
                      </a:r>
                      <a:endParaRPr lang="en-001"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39491862"/>
                  </a:ext>
                </a:extLst>
              </a:tr>
              <a:tr h="289628">
                <a:tc>
                  <a:txBody>
                    <a:bodyPr/>
                    <a:lstStyle/>
                    <a:p>
                      <a:pPr algn="l" fontAlgn="b"/>
                      <a:r>
                        <a:rPr lang="en-IN" sz="1100" u="none" strike="noStrike">
                          <a:effectLst/>
                        </a:rPr>
                        <a:t>South</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a:effectLst/>
                        </a:rPr>
                        <a:t>7.00</a:t>
                      </a:r>
                      <a:endParaRPr lang="en-001"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a:effectLst/>
                        </a:rPr>
                        <a:t>3.00</a:t>
                      </a:r>
                      <a:endParaRPr lang="en-001"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a:effectLst/>
                        </a:rPr>
                        <a:t>2.00</a:t>
                      </a:r>
                      <a:endParaRPr lang="en-001"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a:effectLst/>
                        </a:rPr>
                        <a:t>6.00</a:t>
                      </a:r>
                      <a:endParaRPr lang="en-001"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26149590"/>
                  </a:ext>
                </a:extLst>
              </a:tr>
              <a:tr h="289628">
                <a:tc>
                  <a:txBody>
                    <a:bodyPr/>
                    <a:lstStyle/>
                    <a:p>
                      <a:pPr algn="l" fontAlgn="b"/>
                      <a:r>
                        <a:rPr lang="en-IN" sz="1100" u="none" strike="noStrike">
                          <a:effectLst/>
                        </a:rPr>
                        <a:t>West</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a:effectLst/>
                        </a:rPr>
                        <a:t>10.00</a:t>
                      </a:r>
                      <a:endParaRPr lang="en-001"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a:effectLst/>
                        </a:rPr>
                        <a:t>3.00</a:t>
                      </a:r>
                      <a:endParaRPr lang="en-001"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a:effectLst/>
                        </a:rPr>
                        <a:t>2.00</a:t>
                      </a:r>
                      <a:endParaRPr lang="en-001"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a:effectLst/>
                        </a:rPr>
                        <a:t>2.00</a:t>
                      </a:r>
                      <a:endParaRPr lang="en-001"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85102559"/>
                  </a:ext>
                </a:extLst>
              </a:tr>
              <a:tr h="289628">
                <a:tc>
                  <a:txBody>
                    <a:bodyPr/>
                    <a:lstStyle/>
                    <a:p>
                      <a:pPr algn="l" fontAlgn="b"/>
                      <a:r>
                        <a:rPr lang="en-IN" sz="1100" u="none" strike="noStrike">
                          <a:effectLst/>
                        </a:rPr>
                        <a:t>Grand Total</a:t>
                      </a:r>
                      <a:endParaRPr lang="en-IN"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a:effectLst/>
                        </a:rPr>
                        <a:t>27.00</a:t>
                      </a:r>
                      <a:endParaRPr lang="en-001"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a:effectLst/>
                        </a:rPr>
                        <a:t>8.00</a:t>
                      </a:r>
                      <a:endParaRPr lang="en-001"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a:effectLst/>
                        </a:rPr>
                        <a:t>10.00</a:t>
                      </a:r>
                      <a:endParaRPr lang="en-001"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001" sz="1100" u="none" strike="noStrike" dirty="0">
                          <a:effectLst/>
                        </a:rPr>
                        <a:t>16.00</a:t>
                      </a:r>
                      <a:endParaRPr lang="en-001" sz="11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09924896"/>
                  </a:ext>
                </a:extLst>
              </a:tr>
            </a:tbl>
          </a:graphicData>
        </a:graphic>
      </p:graphicFrame>
    </p:spTree>
    <p:extLst>
      <p:ext uri="{BB962C8B-B14F-4D97-AF65-F5344CB8AC3E}">
        <p14:creationId xmlns:p14="http://schemas.microsoft.com/office/powerpoint/2010/main" val="1440940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7AAE9-05F0-3D65-20EB-B4DE76353C60}"/>
              </a:ext>
            </a:extLst>
          </p:cNvPr>
          <p:cNvSpPr>
            <a:spLocks noGrp="1"/>
          </p:cNvSpPr>
          <p:nvPr>
            <p:ph type="title"/>
          </p:nvPr>
        </p:nvSpPr>
        <p:spPr/>
        <p:txBody>
          <a:bodyPr/>
          <a:lstStyle/>
          <a:p>
            <a:r>
              <a:rPr lang="en-IN" sz="4400" b="1" i="0" u="none" strike="noStrike" baseline="0" dirty="0">
                <a:solidFill>
                  <a:srgbClr val="000000"/>
                </a:solidFill>
                <a:latin typeface="Times New Roman" panose="02020603050405020304" pitchFamily="18" charset="0"/>
              </a:rPr>
              <a:t>Pivot Table Analysis </a:t>
            </a:r>
            <a:endParaRPr lang="LID4096" dirty="0"/>
          </a:p>
        </p:txBody>
      </p:sp>
      <p:sp>
        <p:nvSpPr>
          <p:cNvPr id="3" name="Content Placeholder 2">
            <a:extLst>
              <a:ext uri="{FF2B5EF4-FFF2-40B4-BE49-F238E27FC236}">
                <a16:creationId xmlns:a16="http://schemas.microsoft.com/office/drawing/2014/main" id="{4DA3492D-A504-ADB1-B6D7-A5D0B835B567}"/>
              </a:ext>
            </a:extLst>
          </p:cNvPr>
          <p:cNvSpPr>
            <a:spLocks noGrp="1"/>
          </p:cNvSpPr>
          <p:nvPr>
            <p:ph idx="1"/>
          </p:nvPr>
        </p:nvSpPr>
        <p:spPr/>
        <p:txBody>
          <a:bodyPr/>
          <a:lstStyle/>
          <a:p>
            <a:r>
              <a:rPr lang="en-US" dirty="0"/>
              <a:t>Here we see an average of Evaluation Score by Zone:</a:t>
            </a:r>
          </a:p>
          <a:p>
            <a:pPr marL="0" indent="0">
              <a:buNone/>
            </a:pPr>
            <a:r>
              <a:rPr lang="en-US" dirty="0"/>
              <a:t>				</a:t>
            </a:r>
            <a:endParaRPr lang="LID4096" dirty="0"/>
          </a:p>
        </p:txBody>
      </p:sp>
      <p:pic>
        <p:nvPicPr>
          <p:cNvPr id="5" name="Picture 4">
            <a:extLst>
              <a:ext uri="{FF2B5EF4-FFF2-40B4-BE49-F238E27FC236}">
                <a16:creationId xmlns:a16="http://schemas.microsoft.com/office/drawing/2014/main" id="{1AB8F27E-CB17-5308-FDF1-9E5B1C239CDE}"/>
              </a:ext>
            </a:extLst>
          </p:cNvPr>
          <p:cNvPicPr>
            <a:picLocks noChangeAspect="1"/>
          </p:cNvPicPr>
          <p:nvPr/>
        </p:nvPicPr>
        <p:blipFill>
          <a:blip r:embed="rId2"/>
          <a:stretch>
            <a:fillRect/>
          </a:stretch>
        </p:blipFill>
        <p:spPr>
          <a:xfrm>
            <a:off x="955276" y="2248612"/>
            <a:ext cx="3315163" cy="4153480"/>
          </a:xfrm>
          <a:prstGeom prst="rect">
            <a:avLst/>
          </a:prstGeom>
        </p:spPr>
      </p:pic>
      <p:sp>
        <p:nvSpPr>
          <p:cNvPr id="6" name="TextBox 5">
            <a:extLst>
              <a:ext uri="{FF2B5EF4-FFF2-40B4-BE49-F238E27FC236}">
                <a16:creationId xmlns:a16="http://schemas.microsoft.com/office/drawing/2014/main" id="{B3017786-E800-DE4D-10D5-DF830D30FB10}"/>
              </a:ext>
            </a:extLst>
          </p:cNvPr>
          <p:cNvSpPr txBox="1"/>
          <p:nvPr/>
        </p:nvSpPr>
        <p:spPr>
          <a:xfrm>
            <a:off x="4483207" y="2248611"/>
            <a:ext cx="7488214" cy="3139321"/>
          </a:xfrm>
          <a:prstGeom prst="rect">
            <a:avLst/>
          </a:prstGeom>
          <a:noFill/>
        </p:spPr>
        <p:txBody>
          <a:bodyPr wrap="square" rtlCol="0">
            <a:spAutoFit/>
          </a:bodyPr>
          <a:lstStyle/>
          <a:p>
            <a:pPr algn="l"/>
            <a:r>
              <a:rPr lang="en-US" dirty="0">
                <a:solidFill>
                  <a:srgbClr val="000000"/>
                </a:solidFill>
                <a:latin typeface="Times New Roman" panose="02020603050405020304" pitchFamily="18" charset="0"/>
              </a:rPr>
              <a:t>The analysis of average evaluation scores reveals clear performance distinctions across regions:</a:t>
            </a:r>
          </a:p>
          <a:p>
            <a:pPr algn="l">
              <a:buFont typeface="Arial" panose="020B0604020202020204" pitchFamily="34" charset="0"/>
              <a:buChar char="•"/>
            </a:pPr>
            <a:r>
              <a:rPr lang="en-US" dirty="0">
                <a:solidFill>
                  <a:srgbClr val="000000"/>
                </a:solidFill>
                <a:latin typeface="Times New Roman" panose="02020603050405020304" pitchFamily="18" charset="0"/>
              </a:rPr>
              <a:t>North leads with the highest aggregate score, driven significantly by strong results from average and low performers.</a:t>
            </a:r>
          </a:p>
          <a:p>
            <a:pPr algn="l">
              <a:buFont typeface="Arial" panose="020B0604020202020204" pitchFamily="34" charset="0"/>
              <a:buChar char="•"/>
            </a:pPr>
            <a:r>
              <a:rPr lang="en-US" dirty="0">
                <a:solidFill>
                  <a:srgbClr val="000000"/>
                </a:solidFill>
                <a:latin typeface="Times New Roman" panose="02020603050405020304" pitchFamily="18" charset="0"/>
              </a:rPr>
              <a:t>West closely follows, demonstrating consistent contributions from all categories, with average performers making the largest impact.</a:t>
            </a:r>
          </a:p>
          <a:p>
            <a:pPr algn="l">
              <a:buFont typeface="Arial" panose="020B0604020202020204" pitchFamily="34" charset="0"/>
              <a:buChar char="•"/>
            </a:pPr>
            <a:r>
              <a:rPr lang="en-US" dirty="0">
                <a:solidFill>
                  <a:srgbClr val="000000"/>
                </a:solidFill>
                <a:latin typeface="Times New Roman" panose="02020603050405020304" pitchFamily="18" charset="0"/>
              </a:rPr>
              <a:t>South maintains a balanced profile, particularly due to solid performances from low and average performers.</a:t>
            </a:r>
          </a:p>
          <a:p>
            <a:pPr algn="l">
              <a:buFont typeface="Arial" panose="020B0604020202020204" pitchFamily="34" charset="0"/>
              <a:buChar char="•"/>
            </a:pPr>
            <a:r>
              <a:rPr lang="en-US" dirty="0">
                <a:solidFill>
                  <a:srgbClr val="000000"/>
                </a:solidFill>
                <a:latin typeface="Times New Roman" panose="02020603050405020304" pitchFamily="18" charset="0"/>
              </a:rPr>
              <a:t>East shows notably lower total scores compared to the other regions, indicating an opportunity for targeted improvement, especially among bottom and average performers.</a:t>
            </a:r>
          </a:p>
        </p:txBody>
      </p:sp>
    </p:spTree>
    <p:extLst>
      <p:ext uri="{BB962C8B-B14F-4D97-AF65-F5344CB8AC3E}">
        <p14:creationId xmlns:p14="http://schemas.microsoft.com/office/powerpoint/2010/main" val="3098586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2DC06-B07C-9DAB-BA6D-12E8C44086E3}"/>
              </a:ext>
            </a:extLst>
          </p:cNvPr>
          <p:cNvSpPr>
            <a:spLocks noGrp="1"/>
          </p:cNvSpPr>
          <p:nvPr>
            <p:ph type="title"/>
          </p:nvPr>
        </p:nvSpPr>
        <p:spPr/>
        <p:txBody>
          <a:bodyPr/>
          <a:lstStyle/>
          <a:p>
            <a:r>
              <a:rPr lang="en-IN" sz="4400" b="1" i="0" u="none" strike="noStrike" baseline="0" dirty="0">
                <a:solidFill>
                  <a:srgbClr val="000000"/>
                </a:solidFill>
                <a:latin typeface="Times New Roman" panose="02020603050405020304" pitchFamily="18" charset="0"/>
              </a:rPr>
              <a:t>High Performer Analysis </a:t>
            </a:r>
            <a:endParaRPr lang="LID4096" dirty="0"/>
          </a:p>
        </p:txBody>
      </p:sp>
      <p:sp>
        <p:nvSpPr>
          <p:cNvPr id="3" name="Content Placeholder 2">
            <a:extLst>
              <a:ext uri="{FF2B5EF4-FFF2-40B4-BE49-F238E27FC236}">
                <a16:creationId xmlns:a16="http://schemas.microsoft.com/office/drawing/2014/main" id="{A63417EF-169D-A093-6BB0-CB67621616CD}"/>
              </a:ext>
            </a:extLst>
          </p:cNvPr>
          <p:cNvSpPr>
            <a:spLocks noGrp="1"/>
          </p:cNvSpPr>
          <p:nvPr>
            <p:ph idx="1"/>
          </p:nvPr>
        </p:nvSpPr>
        <p:spPr/>
        <p:txBody>
          <a:bodyPr>
            <a:normAutofit/>
          </a:bodyPr>
          <a:lstStyle/>
          <a:p>
            <a:pPr marL="0" indent="0" algn="l">
              <a:buNone/>
            </a:pPr>
            <a:endParaRPr lang="en-US" sz="1600" b="1" i="0" dirty="0">
              <a:effectLst/>
              <a:latin typeface="fkGrotesk"/>
            </a:endParaRPr>
          </a:p>
          <a:p>
            <a:pPr marL="0" indent="0" algn="l">
              <a:buNone/>
            </a:pPr>
            <a:endParaRPr lang="en-US" sz="1600" b="1" dirty="0">
              <a:latin typeface="fkGrotesk"/>
            </a:endParaRPr>
          </a:p>
          <a:p>
            <a:pPr marL="0" indent="0" algn="l">
              <a:buNone/>
            </a:pPr>
            <a:endParaRPr lang="en-US" sz="1600" b="1" i="0" dirty="0">
              <a:effectLst/>
              <a:latin typeface="fkGrotesk"/>
            </a:endParaRPr>
          </a:p>
          <a:p>
            <a:pPr marL="0" indent="0" algn="l">
              <a:buNone/>
            </a:pPr>
            <a:endParaRPr lang="en-US" sz="1600" b="1" dirty="0">
              <a:latin typeface="fkGrotesk"/>
            </a:endParaRPr>
          </a:p>
          <a:p>
            <a:pPr marL="0" indent="0" algn="l">
              <a:buNone/>
            </a:pPr>
            <a:endParaRPr lang="en-US" sz="1600" b="1" i="0" dirty="0">
              <a:effectLst/>
              <a:latin typeface="fkGrotesk"/>
            </a:endParaRPr>
          </a:p>
          <a:p>
            <a:pPr marL="0" indent="0" algn="l">
              <a:buNone/>
            </a:pPr>
            <a:r>
              <a:rPr lang="en-US" sz="1600" b="1" i="0" dirty="0">
                <a:effectLst/>
                <a:latin typeface="fkGrotesk"/>
              </a:rPr>
              <a:t>High Performer Distribution</a:t>
            </a:r>
          </a:p>
          <a:p>
            <a:pPr algn="l">
              <a:buFont typeface="Arial" panose="020B0604020202020204" pitchFamily="34" charset="0"/>
              <a:buChar char="•"/>
            </a:pPr>
            <a:r>
              <a:rPr lang="en-US" sz="1800" dirty="0">
                <a:solidFill>
                  <a:srgbClr val="000000"/>
                </a:solidFill>
                <a:latin typeface="Times New Roman" panose="02020603050405020304" pitchFamily="18" charset="0"/>
              </a:rPr>
              <a:t>North stands out with 4 high performers, demonstrating a strong concentration of top talent in that region.​</a:t>
            </a:r>
          </a:p>
          <a:p>
            <a:pPr algn="l">
              <a:buFont typeface="Arial" panose="020B0604020202020204" pitchFamily="34" charset="0"/>
              <a:buChar char="•"/>
            </a:pPr>
            <a:r>
              <a:rPr lang="en-US" sz="1800" dirty="0">
                <a:solidFill>
                  <a:srgbClr val="000000"/>
                </a:solidFill>
                <a:latin typeface="Times New Roman" panose="02020603050405020304" pitchFamily="18" charset="0"/>
              </a:rPr>
              <a:t>East, South, and West each have 2 high performers, indicating a more evenly distributed presence of top performers outside of North.​</a:t>
            </a:r>
          </a:p>
          <a:p>
            <a:pPr algn="l">
              <a:buFont typeface="Arial" panose="020B0604020202020204" pitchFamily="34" charset="0"/>
              <a:buChar char="•"/>
            </a:pPr>
            <a:r>
              <a:rPr lang="en-US" sz="1800" dirty="0">
                <a:solidFill>
                  <a:srgbClr val="000000"/>
                </a:solidFill>
                <a:latin typeface="Times New Roman" panose="02020603050405020304" pitchFamily="18" charset="0"/>
              </a:rPr>
              <a:t>In total, there are 10 high performers across all regions, underscoring the relatively limited—but impactful—group driving exceptional results within the organization.​</a:t>
            </a:r>
          </a:p>
          <a:p>
            <a:pPr algn="l">
              <a:buFont typeface="Arial" panose="020B0604020202020204" pitchFamily="34" charset="0"/>
              <a:buChar char="•"/>
            </a:pPr>
            <a:r>
              <a:rPr lang="en-US" sz="1800" dirty="0">
                <a:solidFill>
                  <a:srgbClr val="000000"/>
                </a:solidFill>
                <a:latin typeface="Times New Roman" panose="02020603050405020304" pitchFamily="18" charset="0"/>
              </a:rPr>
              <a:t>This distribution highlights North as a benchmark for developing high performers, while other regions may benefit from focused talent development initiatives aimed at expanding their pool of top achievers.</a:t>
            </a:r>
            <a:endParaRPr lang="LID4096" sz="1800" dirty="0">
              <a:solidFill>
                <a:srgbClr val="000000"/>
              </a:solidFill>
              <a:latin typeface="Times New Roman" panose="02020603050405020304" pitchFamily="18" charset="0"/>
            </a:endParaRPr>
          </a:p>
        </p:txBody>
      </p:sp>
      <p:pic>
        <p:nvPicPr>
          <p:cNvPr id="9" name="Picture 8">
            <a:extLst>
              <a:ext uri="{FF2B5EF4-FFF2-40B4-BE49-F238E27FC236}">
                <a16:creationId xmlns:a16="http://schemas.microsoft.com/office/drawing/2014/main" id="{E88362C5-AD3A-2D7E-046B-C371AD6BA6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52048" y="989049"/>
            <a:ext cx="4525878" cy="2958603"/>
          </a:xfrm>
          <a:prstGeom prst="rect">
            <a:avLst/>
          </a:prstGeom>
        </p:spPr>
      </p:pic>
    </p:spTree>
    <p:extLst>
      <p:ext uri="{BB962C8B-B14F-4D97-AF65-F5344CB8AC3E}">
        <p14:creationId xmlns:p14="http://schemas.microsoft.com/office/powerpoint/2010/main" val="603580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4DC74-2618-3087-3996-37CC71E56F53}"/>
              </a:ext>
            </a:extLst>
          </p:cNvPr>
          <p:cNvSpPr>
            <a:spLocks noGrp="1"/>
          </p:cNvSpPr>
          <p:nvPr>
            <p:ph type="title"/>
          </p:nvPr>
        </p:nvSpPr>
        <p:spPr/>
        <p:txBody>
          <a:bodyPr/>
          <a:lstStyle/>
          <a:p>
            <a:r>
              <a:rPr lang="en-IN" sz="4400" b="0" i="0" u="none" strike="noStrike" baseline="0" dirty="0">
                <a:solidFill>
                  <a:srgbClr val="000000"/>
                </a:solidFill>
                <a:latin typeface="Times New Roman" panose="02020603050405020304" pitchFamily="18" charset="0"/>
              </a:rPr>
              <a:t>Average Evaluation Scores by Zone </a:t>
            </a:r>
            <a:endParaRPr lang="LID4096" dirty="0"/>
          </a:p>
        </p:txBody>
      </p:sp>
      <p:sp>
        <p:nvSpPr>
          <p:cNvPr id="3" name="Content Placeholder 2">
            <a:extLst>
              <a:ext uri="{FF2B5EF4-FFF2-40B4-BE49-F238E27FC236}">
                <a16:creationId xmlns:a16="http://schemas.microsoft.com/office/drawing/2014/main" id="{56C1E165-5394-B8FD-F241-68DEB409D4B2}"/>
              </a:ext>
            </a:extLst>
          </p:cNvPr>
          <p:cNvSpPr>
            <a:spLocks noGrp="1"/>
          </p:cNvSpPr>
          <p:nvPr>
            <p:ph idx="1"/>
          </p:nvPr>
        </p:nvSpPr>
        <p:spPr/>
        <p:txBody>
          <a:bodyPr/>
          <a:lstStyle/>
          <a:p>
            <a:r>
              <a:rPr lang="en-US" dirty="0"/>
              <a:t>Average Evaluation score by zone: </a:t>
            </a:r>
          </a:p>
          <a:p>
            <a:endParaRPr lang="en-US" dirty="0"/>
          </a:p>
          <a:p>
            <a:endParaRPr lang="en-US" dirty="0"/>
          </a:p>
          <a:p>
            <a:endParaRPr lang="en-US" dirty="0"/>
          </a:p>
          <a:p>
            <a:r>
              <a:rPr lang="en-US" sz="1800" b="0" i="0" u="none" strike="noStrike" baseline="0" dirty="0">
                <a:solidFill>
                  <a:srgbClr val="000000"/>
                </a:solidFill>
                <a:latin typeface="Times New Roman" panose="02020603050405020304" pitchFamily="18" charset="0"/>
              </a:rPr>
              <a:t>Percentage of High Performers by Region </a:t>
            </a:r>
            <a:endParaRPr lang="LID4096" dirty="0"/>
          </a:p>
        </p:txBody>
      </p:sp>
      <p:graphicFrame>
        <p:nvGraphicFramePr>
          <p:cNvPr id="5" name="Chart 4" descr="This bar chart shows the average evaluation score for each zone, providing insights into the performance of different regions.&#10;" title="Average Evaluation Score by Zone ">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1600806239"/>
              </p:ext>
            </p:extLst>
          </p:nvPr>
        </p:nvGraphicFramePr>
        <p:xfrm>
          <a:off x="6884068" y="1506914"/>
          <a:ext cx="3264568" cy="204536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180AB1AB-8987-FCBF-4358-FE33A96142B0}"/>
              </a:ext>
            </a:extLst>
          </p:cNvPr>
          <p:cNvGraphicFramePr>
            <a:graphicFrameLocks/>
          </p:cNvGraphicFramePr>
          <p:nvPr>
            <p:extLst>
              <p:ext uri="{D42A27DB-BD31-4B8C-83A1-F6EECF244321}">
                <p14:modId xmlns:p14="http://schemas.microsoft.com/office/powerpoint/2010/main" val="1238620253"/>
              </p:ext>
            </p:extLst>
          </p:nvPr>
        </p:nvGraphicFramePr>
        <p:xfrm>
          <a:off x="6884068" y="3552283"/>
          <a:ext cx="3522997" cy="282616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86755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3445B-8ABA-65F0-F5B0-9F4F84870EFF}"/>
              </a:ext>
            </a:extLst>
          </p:cNvPr>
          <p:cNvSpPr>
            <a:spLocks noGrp="1"/>
          </p:cNvSpPr>
          <p:nvPr>
            <p:ph type="title"/>
          </p:nvPr>
        </p:nvSpPr>
        <p:spPr/>
        <p:txBody>
          <a:bodyPr/>
          <a:lstStyle/>
          <a:p>
            <a:r>
              <a:rPr lang="en-IN" sz="4400" b="0" i="0" u="none" strike="noStrike" baseline="0" dirty="0">
                <a:solidFill>
                  <a:srgbClr val="000000"/>
                </a:solidFill>
                <a:latin typeface="Times New Roman" panose="02020603050405020304" pitchFamily="18" charset="0"/>
              </a:rPr>
              <a:t>Average Evaluation Scores by Zone </a:t>
            </a:r>
            <a:endParaRPr lang="LID4096" dirty="0"/>
          </a:p>
        </p:txBody>
      </p:sp>
      <p:sp>
        <p:nvSpPr>
          <p:cNvPr id="3" name="Content Placeholder 2">
            <a:extLst>
              <a:ext uri="{FF2B5EF4-FFF2-40B4-BE49-F238E27FC236}">
                <a16:creationId xmlns:a16="http://schemas.microsoft.com/office/drawing/2014/main" id="{F1F0731D-E212-123A-8ACB-A75B74433429}"/>
              </a:ext>
            </a:extLst>
          </p:cNvPr>
          <p:cNvSpPr>
            <a:spLocks noGrp="1"/>
          </p:cNvSpPr>
          <p:nvPr>
            <p:ph idx="1"/>
          </p:nvPr>
        </p:nvSpPr>
        <p:spPr/>
        <p:txBody>
          <a:bodyPr/>
          <a:lstStyle/>
          <a:p>
            <a:r>
              <a:rPr lang="en-IN" sz="1800" b="0" i="0" u="none" strike="noStrike" baseline="0" dirty="0">
                <a:solidFill>
                  <a:srgbClr val="000000"/>
                </a:solidFill>
                <a:latin typeface="Times New Roman" panose="02020603050405020304" pitchFamily="18" charset="0"/>
              </a:rPr>
              <a:t>Performance Trends Over Time </a:t>
            </a:r>
            <a:endParaRPr lang="LID4096" dirty="0"/>
          </a:p>
        </p:txBody>
      </p:sp>
      <p:graphicFrame>
        <p:nvGraphicFramePr>
          <p:cNvPr id="4" name="Chart 3">
            <a:extLst>
              <a:ext uri="{FF2B5EF4-FFF2-40B4-BE49-F238E27FC236}">
                <a16:creationId xmlns:a16="http://schemas.microsoft.com/office/drawing/2014/main" id="{1E621465-C20B-71C4-D59D-E2362535134B}"/>
              </a:ext>
            </a:extLst>
          </p:cNvPr>
          <p:cNvGraphicFramePr>
            <a:graphicFrameLocks/>
          </p:cNvGraphicFramePr>
          <p:nvPr>
            <p:extLst>
              <p:ext uri="{D42A27DB-BD31-4B8C-83A1-F6EECF244321}">
                <p14:modId xmlns:p14="http://schemas.microsoft.com/office/powerpoint/2010/main" val="2128043990"/>
              </p:ext>
            </p:extLst>
          </p:nvPr>
        </p:nvGraphicFramePr>
        <p:xfrm>
          <a:off x="985963" y="2116931"/>
          <a:ext cx="2978443" cy="211216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475581D2-997C-AA27-420F-A42C297438F5}"/>
              </a:ext>
            </a:extLst>
          </p:cNvPr>
          <p:cNvGraphicFramePr>
            <a:graphicFrameLocks/>
          </p:cNvGraphicFramePr>
          <p:nvPr>
            <p:extLst>
              <p:ext uri="{D42A27DB-BD31-4B8C-83A1-F6EECF244321}">
                <p14:modId xmlns:p14="http://schemas.microsoft.com/office/powerpoint/2010/main" val="1411963649"/>
              </p:ext>
            </p:extLst>
          </p:nvPr>
        </p:nvGraphicFramePr>
        <p:xfrm>
          <a:off x="3964406" y="1886572"/>
          <a:ext cx="2978443" cy="211216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E4D16F99-59B4-D1F9-B490-07D537AC8F58}"/>
              </a:ext>
            </a:extLst>
          </p:cNvPr>
          <p:cNvGraphicFramePr>
            <a:graphicFrameLocks/>
          </p:cNvGraphicFramePr>
          <p:nvPr>
            <p:extLst>
              <p:ext uri="{D42A27DB-BD31-4B8C-83A1-F6EECF244321}">
                <p14:modId xmlns:p14="http://schemas.microsoft.com/office/powerpoint/2010/main" val="285913334"/>
              </p:ext>
            </p:extLst>
          </p:nvPr>
        </p:nvGraphicFramePr>
        <p:xfrm>
          <a:off x="985963" y="4229099"/>
          <a:ext cx="2978443" cy="211216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a:extLst>
              <a:ext uri="{FF2B5EF4-FFF2-40B4-BE49-F238E27FC236}">
                <a16:creationId xmlns:a16="http://schemas.microsoft.com/office/drawing/2014/main" id="{DA6469FF-752F-1DD5-431C-FF25FD0AA373}"/>
              </a:ext>
            </a:extLst>
          </p:cNvPr>
          <p:cNvGraphicFramePr>
            <a:graphicFrameLocks/>
          </p:cNvGraphicFramePr>
          <p:nvPr>
            <p:extLst>
              <p:ext uri="{D42A27DB-BD31-4B8C-83A1-F6EECF244321}">
                <p14:modId xmlns:p14="http://schemas.microsoft.com/office/powerpoint/2010/main" val="2824418096"/>
              </p:ext>
            </p:extLst>
          </p:nvPr>
        </p:nvGraphicFramePr>
        <p:xfrm>
          <a:off x="3964406" y="3998740"/>
          <a:ext cx="2978443" cy="255446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564945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A8F99-03CE-13BC-56B5-E3BCE29DF44A}"/>
              </a:ext>
            </a:extLst>
          </p:cNvPr>
          <p:cNvSpPr>
            <a:spLocks noGrp="1"/>
          </p:cNvSpPr>
          <p:nvPr>
            <p:ph type="title"/>
          </p:nvPr>
        </p:nvSpPr>
        <p:spPr/>
        <p:txBody>
          <a:bodyPr/>
          <a:lstStyle/>
          <a:p>
            <a:r>
              <a:rPr lang="en-IN" sz="4400" b="0" i="0" u="none" strike="noStrike" baseline="0" dirty="0">
                <a:solidFill>
                  <a:srgbClr val="000000"/>
                </a:solidFill>
                <a:latin typeface="Times New Roman" panose="02020603050405020304" pitchFamily="18" charset="0"/>
              </a:rPr>
              <a:t>Breakdown by Evaluation Criteria </a:t>
            </a:r>
            <a:endParaRPr lang="LID4096" dirty="0"/>
          </a:p>
        </p:txBody>
      </p:sp>
      <p:pic>
        <p:nvPicPr>
          <p:cNvPr id="9" name="Content Placeholder 8">
            <a:extLst>
              <a:ext uri="{FF2B5EF4-FFF2-40B4-BE49-F238E27FC236}">
                <a16:creationId xmlns:a16="http://schemas.microsoft.com/office/drawing/2014/main" id="{31C30B85-0990-3D12-E641-31C864A067D0}"/>
              </a:ext>
            </a:extLst>
          </p:cNvPr>
          <p:cNvPicPr>
            <a:picLocks noGrp="1" noChangeAspect="1"/>
          </p:cNvPicPr>
          <p:nvPr>
            <p:ph idx="1"/>
          </p:nvPr>
        </p:nvPicPr>
        <p:blipFill>
          <a:blip r:embed="rId2"/>
          <a:stretch>
            <a:fillRect/>
          </a:stretch>
        </p:blipFill>
        <p:spPr>
          <a:xfrm>
            <a:off x="917713" y="1690688"/>
            <a:ext cx="10515600" cy="715905"/>
          </a:xfrm>
          <a:prstGeom prst="rect">
            <a:avLst/>
          </a:prstGeom>
        </p:spPr>
      </p:pic>
      <p:sp>
        <p:nvSpPr>
          <p:cNvPr id="10" name="TextBox 9">
            <a:extLst>
              <a:ext uri="{FF2B5EF4-FFF2-40B4-BE49-F238E27FC236}">
                <a16:creationId xmlns:a16="http://schemas.microsoft.com/office/drawing/2014/main" id="{714A4D2B-C173-4725-4E61-8E2BD89FC189}"/>
              </a:ext>
            </a:extLst>
          </p:cNvPr>
          <p:cNvSpPr txBox="1"/>
          <p:nvPr/>
        </p:nvSpPr>
        <p:spPr>
          <a:xfrm>
            <a:off x="838199" y="2406593"/>
            <a:ext cx="10595113" cy="3693319"/>
          </a:xfrm>
          <a:prstGeom prst="rect">
            <a:avLst/>
          </a:prstGeom>
          <a:noFill/>
        </p:spPr>
        <p:txBody>
          <a:bodyPr wrap="square" rtlCol="0">
            <a:spAutoFit/>
          </a:bodyPr>
          <a:lstStyle/>
          <a:p>
            <a:pPr algn="l">
              <a:buFont typeface="Arial" panose="020B0604020202020204" pitchFamily="34" charset="0"/>
              <a:buChar char="•"/>
            </a:pPr>
            <a:r>
              <a:rPr lang="en-US" b="0" i="0" dirty="0">
                <a:effectLst/>
                <a:latin typeface="fkGroteskNeue"/>
              </a:rPr>
              <a:t>North region excels across almost all metrics, achieving the top score in categories like Store Ambiance (1682), First Impressions (1570), Discovery (1217), and Objection Handling (1459), demonstrating best-in-class customer experiences.​</a:t>
            </a:r>
            <a:br>
              <a:rPr lang="en-US" b="0" i="0" dirty="0">
                <a:effectLst/>
                <a:latin typeface="fkGroteskNeue"/>
              </a:rPr>
            </a:br>
            <a:endParaRPr lang="en-US" b="0" i="0" dirty="0">
              <a:effectLst/>
              <a:latin typeface="fkGroteskNeue"/>
            </a:endParaRPr>
          </a:p>
          <a:p>
            <a:pPr algn="l">
              <a:buFont typeface="Arial" panose="020B0604020202020204" pitchFamily="34" charset="0"/>
              <a:buChar char="•"/>
            </a:pPr>
            <a:r>
              <a:rPr lang="en-US" b="0" i="0" dirty="0">
                <a:effectLst/>
                <a:latin typeface="fkGroteskNeue"/>
              </a:rPr>
              <a:t>South and West both show strong, balanced performances with high totals in Store Ambiance, Objection Handling, and Overall Experience, indicating a broad strength in customer interactions.​</a:t>
            </a:r>
            <a:br>
              <a:rPr lang="en-US" b="0" i="0" dirty="0">
                <a:effectLst/>
                <a:latin typeface="fkGroteskNeue"/>
              </a:rPr>
            </a:br>
            <a:endParaRPr lang="en-US" b="0" i="0" dirty="0">
              <a:effectLst/>
              <a:latin typeface="fkGroteskNeue"/>
            </a:endParaRPr>
          </a:p>
          <a:p>
            <a:pPr algn="l">
              <a:buFont typeface="Arial" panose="020B0604020202020204" pitchFamily="34" charset="0"/>
              <a:buChar char="•"/>
            </a:pPr>
            <a:r>
              <a:rPr lang="en-US" b="0" i="0" dirty="0">
                <a:effectLst/>
                <a:latin typeface="fkGroteskNeue"/>
              </a:rPr>
              <a:t>East ranks lowest in every metric such as Store Ambiance (615), Closure &amp; Care (363), and Overall Experience (522) highlighting considerable room for improvement and prioritization for support.​</a:t>
            </a:r>
            <a:br>
              <a:rPr lang="en-US" b="0" i="0" dirty="0">
                <a:effectLst/>
                <a:latin typeface="fkGroteskNeue"/>
              </a:rPr>
            </a:br>
            <a:endParaRPr lang="en-US" b="0" i="0" dirty="0">
              <a:effectLst/>
              <a:latin typeface="fkGroteskNeue"/>
            </a:endParaRPr>
          </a:p>
          <a:p>
            <a:pPr algn="l">
              <a:buFont typeface="Arial" panose="020B0604020202020204" pitchFamily="34" charset="0"/>
              <a:buChar char="•"/>
            </a:pPr>
            <a:r>
              <a:rPr lang="en-US" b="0" i="0" dirty="0">
                <a:effectLst/>
                <a:latin typeface="fkGroteskNeue"/>
              </a:rPr>
              <a:t>The stark contrast between North’s leadership and East’s lagging results offers a clear directive for organizational focus: replicate top-performing practices regionally and address the root causes limiting East’s effectiveness.</a:t>
            </a:r>
          </a:p>
        </p:txBody>
      </p:sp>
    </p:spTree>
    <p:extLst>
      <p:ext uri="{BB962C8B-B14F-4D97-AF65-F5344CB8AC3E}">
        <p14:creationId xmlns:p14="http://schemas.microsoft.com/office/powerpoint/2010/main" val="3405834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22038-8DE4-3867-B873-6C4C6ADEC0D6}"/>
              </a:ext>
            </a:extLst>
          </p:cNvPr>
          <p:cNvSpPr>
            <a:spLocks noGrp="1"/>
          </p:cNvSpPr>
          <p:nvPr>
            <p:ph type="title"/>
          </p:nvPr>
        </p:nvSpPr>
        <p:spPr/>
        <p:txBody>
          <a:bodyPr/>
          <a:lstStyle/>
          <a:p>
            <a:r>
              <a:rPr lang="en-US" sz="4400" b="0" i="0" u="none" strike="noStrike" baseline="0" dirty="0">
                <a:solidFill>
                  <a:srgbClr val="000000"/>
                </a:solidFill>
                <a:latin typeface="Times New Roman" panose="02020603050405020304" pitchFamily="18" charset="0"/>
              </a:rPr>
              <a:t>High vs. Low Performers Comparison </a:t>
            </a:r>
            <a:endParaRPr lang="LID4096" dirty="0"/>
          </a:p>
        </p:txBody>
      </p:sp>
      <p:sp>
        <p:nvSpPr>
          <p:cNvPr id="3" name="Content Placeholder 2">
            <a:extLst>
              <a:ext uri="{FF2B5EF4-FFF2-40B4-BE49-F238E27FC236}">
                <a16:creationId xmlns:a16="http://schemas.microsoft.com/office/drawing/2014/main" id="{1BD94A73-65B2-E22B-5E2D-9288B89F96BC}"/>
              </a:ext>
            </a:extLst>
          </p:cNvPr>
          <p:cNvSpPr>
            <a:spLocks noGrp="1"/>
          </p:cNvSpPr>
          <p:nvPr>
            <p:ph idx="1"/>
          </p:nvPr>
        </p:nvSpPr>
        <p:spPr/>
        <p:txBody>
          <a:bodyPr>
            <a:normAutofit/>
          </a:bodyPr>
          <a:lstStyle/>
          <a:p>
            <a:pPr algn="l">
              <a:buFont typeface="Arial" panose="020B0604020202020204" pitchFamily="34" charset="0"/>
              <a:buChar char="•"/>
            </a:pPr>
            <a:r>
              <a:rPr lang="en-US" sz="1000" b="0" i="0" dirty="0">
                <a:effectLst/>
                <a:latin typeface="Times New Roman" panose="02020603050405020304" pitchFamily="18" charset="0"/>
                <a:cs typeface="Times New Roman" panose="02020603050405020304" pitchFamily="18" charset="0"/>
              </a:rPr>
              <a:t>This chart provides a comprehensive visual comparison between High Performers and Low Performers across all critical customer experience metrics.​</a:t>
            </a:r>
          </a:p>
          <a:p>
            <a:pPr algn="l">
              <a:buFont typeface="Arial" panose="020B0604020202020204" pitchFamily="34" charset="0"/>
              <a:buChar char="•"/>
            </a:pPr>
            <a:r>
              <a:rPr lang="en-US" sz="1000" b="0" i="0" dirty="0">
                <a:effectLst/>
                <a:latin typeface="Times New Roman" panose="02020603050405020304" pitchFamily="18" charset="0"/>
                <a:cs typeface="Times New Roman" panose="02020603050405020304" pitchFamily="18" charset="0"/>
              </a:rPr>
              <a:t>Clearly, Low Performers have higher aggregate scores in every metric, indicating a larger volume of evaluations but not necessarily higher quality outcomes highlighting where the bulk of customer interactions occur.​</a:t>
            </a:r>
          </a:p>
          <a:p>
            <a:pPr algn="l">
              <a:buFont typeface="Arial" panose="020B0604020202020204" pitchFamily="34" charset="0"/>
              <a:buChar char="•"/>
            </a:pPr>
            <a:r>
              <a:rPr lang="en-US" sz="1000" b="0" i="0" dirty="0">
                <a:effectLst/>
                <a:latin typeface="Times New Roman" panose="02020603050405020304" pitchFamily="18" charset="0"/>
                <a:cs typeface="Times New Roman" panose="02020603050405020304" pitchFamily="18" charset="0"/>
              </a:rPr>
              <a:t>The segmentation of the bars enables stakeholders to pinpoint specific areas such as Store Ambiance, First Impressions, and Objection Handling where targeted coaching and support could drive significant improvements.​</a:t>
            </a:r>
          </a:p>
          <a:p>
            <a:pPr algn="l">
              <a:buFont typeface="Arial" panose="020B0604020202020204" pitchFamily="34" charset="0"/>
              <a:buChar char="•"/>
            </a:pPr>
            <a:r>
              <a:rPr lang="en-US" sz="1000" b="0" i="0" dirty="0">
                <a:effectLst/>
                <a:latin typeface="Times New Roman" panose="02020603050405020304" pitchFamily="18" charset="0"/>
                <a:cs typeface="Times New Roman" panose="02020603050405020304" pitchFamily="18" charset="0"/>
              </a:rPr>
              <a:t>By drawing attention to the distribution and scale of each metric within both groups, this visualization supports strategic prioritization, helping to focus resources where they can deliver the greatest impact on overall performance.</a:t>
            </a:r>
          </a:p>
        </p:txBody>
      </p:sp>
      <p:pic>
        <p:nvPicPr>
          <p:cNvPr id="6" name="Picture 5">
            <a:extLst>
              <a:ext uri="{FF2B5EF4-FFF2-40B4-BE49-F238E27FC236}">
                <a16:creationId xmlns:a16="http://schemas.microsoft.com/office/drawing/2014/main" id="{430C5D45-B543-0393-80BD-583C49EEBD33}"/>
              </a:ext>
            </a:extLst>
          </p:cNvPr>
          <p:cNvPicPr>
            <a:picLocks noChangeAspect="1"/>
          </p:cNvPicPr>
          <p:nvPr/>
        </p:nvPicPr>
        <p:blipFill>
          <a:blip r:embed="rId2"/>
          <a:stretch>
            <a:fillRect/>
          </a:stretch>
        </p:blipFill>
        <p:spPr>
          <a:xfrm>
            <a:off x="3191398" y="3332956"/>
            <a:ext cx="5809204" cy="3159919"/>
          </a:xfrm>
          <a:prstGeom prst="rect">
            <a:avLst/>
          </a:prstGeom>
        </p:spPr>
      </p:pic>
    </p:spTree>
    <p:extLst>
      <p:ext uri="{BB962C8B-B14F-4D97-AF65-F5344CB8AC3E}">
        <p14:creationId xmlns:p14="http://schemas.microsoft.com/office/powerpoint/2010/main" val="3592489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EA575-B336-8944-3B94-01835988D1AF}"/>
              </a:ext>
            </a:extLst>
          </p:cNvPr>
          <p:cNvSpPr>
            <a:spLocks noGrp="1"/>
          </p:cNvSpPr>
          <p:nvPr>
            <p:ph type="title"/>
          </p:nvPr>
        </p:nvSpPr>
        <p:spPr/>
        <p:txBody>
          <a:bodyPr/>
          <a:lstStyle/>
          <a:p>
            <a:r>
              <a:rPr lang="en-US" dirty="0">
                <a:solidFill>
                  <a:srgbClr val="000000"/>
                </a:solidFill>
                <a:latin typeface="Times New Roman" panose="02020603050405020304" pitchFamily="18" charset="0"/>
              </a:rPr>
              <a:t>Regional</a:t>
            </a:r>
            <a:r>
              <a:rPr lang="en-US" dirty="0"/>
              <a:t> </a:t>
            </a:r>
            <a:r>
              <a:rPr lang="en-US" dirty="0">
                <a:solidFill>
                  <a:srgbClr val="000000"/>
                </a:solidFill>
                <a:latin typeface="Times New Roman" panose="02020603050405020304" pitchFamily="18" charset="0"/>
              </a:rPr>
              <a:t>Performance Overview</a:t>
            </a:r>
            <a:endParaRPr lang="LID4096" dirty="0">
              <a:solidFill>
                <a:srgbClr val="000000"/>
              </a:solidFill>
              <a:latin typeface="Times New Roman" panose="02020603050405020304" pitchFamily="18" charset="0"/>
            </a:endParaRPr>
          </a:p>
        </p:txBody>
      </p:sp>
      <p:sp>
        <p:nvSpPr>
          <p:cNvPr id="3" name="Content Placeholder 2">
            <a:extLst>
              <a:ext uri="{FF2B5EF4-FFF2-40B4-BE49-F238E27FC236}">
                <a16:creationId xmlns:a16="http://schemas.microsoft.com/office/drawing/2014/main" id="{725AB028-5DDF-FA8C-588D-6144ABEC9738}"/>
              </a:ext>
            </a:extLst>
          </p:cNvPr>
          <p:cNvSpPr>
            <a:spLocks noGrp="1"/>
          </p:cNvSpPr>
          <p:nvPr>
            <p:ph idx="1"/>
          </p:nvPr>
        </p:nvSpPr>
        <p:spPr/>
        <p:txBody>
          <a:bodyPr>
            <a:normAutofit fontScale="77500" lnSpcReduction="20000"/>
          </a:bodyPr>
          <a:lstStyle/>
          <a:p>
            <a:r>
              <a:rPr lang="en-US" dirty="0"/>
              <a:t>North: The North region consistently leads in overall evaluation scores, boasting the highest sums in nearly all key customer experience metrics (store ambiance, first impressions, discovery, objection handling, and more). The strong showing is attributed both to high performer concentration and robust contributions from average and low performers. North sets the benchmark for performance company-wide.​</a:t>
            </a:r>
          </a:p>
          <a:p>
            <a:endParaRPr lang="en-US" dirty="0"/>
          </a:p>
          <a:p>
            <a:r>
              <a:rPr lang="en-US" dirty="0"/>
              <a:t>West &amp; South: Both regions deliver strong, balanced results, with notable totals in areas such as store ambiance and overall experience. In West, “Average Performer” makes the largest impact; South displays stable scores, especially from low and average performers.​</a:t>
            </a:r>
          </a:p>
          <a:p>
            <a:endParaRPr lang="en-US" dirty="0"/>
          </a:p>
          <a:p>
            <a:r>
              <a:rPr lang="en-US" dirty="0"/>
              <a:t>East: The East region lags significantly behind all others across metrics, frequently showing the lowest totals in criteria like store ambiance, closure &amp; care, and overall experience. This indicates a clear need for focused support and targeted development to elevate scores in these fundamental areas.</a:t>
            </a:r>
            <a:endParaRPr lang="LID4096" dirty="0"/>
          </a:p>
        </p:txBody>
      </p:sp>
    </p:spTree>
    <p:extLst>
      <p:ext uri="{BB962C8B-B14F-4D97-AF65-F5344CB8AC3E}">
        <p14:creationId xmlns:p14="http://schemas.microsoft.com/office/powerpoint/2010/main" val="4211041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26593-5D52-ABC6-4D95-79F87F6B1B2D}"/>
              </a:ext>
            </a:extLst>
          </p:cNvPr>
          <p:cNvSpPr>
            <a:spLocks noGrp="1"/>
          </p:cNvSpPr>
          <p:nvPr>
            <p:ph type="title"/>
          </p:nvPr>
        </p:nvSpPr>
        <p:spPr/>
        <p:txBody>
          <a:bodyPr/>
          <a:lstStyle/>
          <a:p>
            <a:r>
              <a:rPr lang="en-IN" b="0" i="0" dirty="0">
                <a:effectLst/>
                <a:latin typeface="Times New Roman" panose="02020603050405020304" pitchFamily="18" charset="0"/>
                <a:cs typeface="Times New Roman" panose="02020603050405020304" pitchFamily="18" charset="0"/>
              </a:rPr>
              <a:t>Trends Observed Over Time</a:t>
            </a:r>
            <a:endParaRPr lang="LID4096"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4FEC7B9-1218-44EC-BA7F-EA8B647F1DAB}"/>
              </a:ext>
            </a:extLst>
          </p:cNvPr>
          <p:cNvSpPr>
            <a:spLocks noGrp="1"/>
          </p:cNvSpPr>
          <p:nvPr>
            <p:ph idx="1"/>
          </p:nvPr>
        </p:nvSpPr>
        <p:spPr/>
        <p:txBody>
          <a:bodyPr>
            <a:normAutofit/>
          </a:bodyPr>
          <a:lstStyle/>
          <a:p>
            <a:pPr algn="l">
              <a:buFont typeface="Arial" panose="020B0604020202020204" pitchFamily="34" charset="0"/>
              <a:buChar char="•"/>
            </a:pPr>
            <a:r>
              <a:rPr lang="en-US" b="0" i="0" dirty="0">
                <a:effectLst/>
              </a:rPr>
              <a:t>Visualizations show consistent leadership by North and West in evaluation scores, with these regions maintaining higher performance steadily across multiple reporting periods.​</a:t>
            </a:r>
          </a:p>
          <a:p>
            <a:pPr algn="l">
              <a:buFont typeface="Arial" panose="020B0604020202020204" pitchFamily="34" charset="0"/>
              <a:buChar char="•"/>
            </a:pPr>
            <a:r>
              <a:rPr lang="en-US" b="0" i="0" dirty="0">
                <a:effectLst/>
              </a:rPr>
              <a:t>While North holds the top spot over time, South and West demonstrate stable and robust results without considerable fluctuation, illustrating ongoing operational discipline.</a:t>
            </a:r>
          </a:p>
          <a:p>
            <a:pPr algn="l">
              <a:buFont typeface="Arial" panose="020B0604020202020204" pitchFamily="34" charset="0"/>
              <a:buChar char="•"/>
            </a:pPr>
            <a:r>
              <a:rPr lang="en-US" b="0" i="0" dirty="0">
                <a:effectLst/>
              </a:rPr>
              <a:t>East’s scores demonstrate persistent underperformance over time, without noticeable upward trends. This stability at a lower level signals deep-rooted challenges rather than short-term anomalies, emphasizing the urgency for intervention.</a:t>
            </a:r>
            <a:endParaRPr lang="LID4096" dirty="0"/>
          </a:p>
        </p:txBody>
      </p:sp>
    </p:spTree>
    <p:extLst>
      <p:ext uri="{BB962C8B-B14F-4D97-AF65-F5344CB8AC3E}">
        <p14:creationId xmlns:p14="http://schemas.microsoft.com/office/powerpoint/2010/main" val="801807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120AA-E41B-BAFC-B71F-89F7CBE46EAC}"/>
              </a:ext>
            </a:extLst>
          </p:cNvPr>
          <p:cNvSpPr>
            <a:spLocks noGrp="1"/>
          </p:cNvSpPr>
          <p:nvPr>
            <p:ph type="title"/>
          </p:nvPr>
        </p:nvSpPr>
        <p:spPr/>
        <p:txBody>
          <a:bodyPr/>
          <a:lstStyle/>
          <a:p>
            <a:r>
              <a:rPr lang="en-IN" b="0" i="0" dirty="0">
                <a:effectLst/>
                <a:latin typeface="Times New Roman" panose="02020603050405020304" pitchFamily="18" charset="0"/>
                <a:cs typeface="Times New Roman" panose="02020603050405020304" pitchFamily="18" charset="0"/>
              </a:rPr>
              <a:t>Performance Distribution Analysis</a:t>
            </a:r>
            <a:endParaRPr lang="LID4096"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26EE1F2-5D13-E2C7-3419-6D7B4CF18FBC}"/>
              </a:ext>
            </a:extLst>
          </p:cNvPr>
          <p:cNvSpPr>
            <a:spLocks noGrp="1"/>
          </p:cNvSpPr>
          <p:nvPr>
            <p:ph idx="1"/>
          </p:nvPr>
        </p:nvSpPr>
        <p:spPr/>
        <p:txBody>
          <a:bodyPr>
            <a:normAutofit fontScale="85000" lnSpcReduction="20000"/>
          </a:bodyPr>
          <a:lstStyle/>
          <a:p>
            <a:pPr algn="l">
              <a:buFont typeface="Arial" panose="020B0604020202020204" pitchFamily="34" charset="0"/>
              <a:buChar char="•"/>
            </a:pPr>
            <a:r>
              <a:rPr lang="en-US" b="0" i="0" dirty="0">
                <a:effectLst/>
              </a:rPr>
              <a:t>Grade Segmentation: High performers are relatively few in number (10 overall), with North leading (4 high performers) and other regions (East, South, West) having two each. Most evaluations are clustered among average and low performers, especially for East and South.​</a:t>
            </a:r>
          </a:p>
          <a:p>
            <a:pPr algn="l">
              <a:buFont typeface="Arial" panose="020B0604020202020204" pitchFamily="34" charset="0"/>
              <a:buChar char="•"/>
            </a:pPr>
            <a:r>
              <a:rPr lang="en-US" b="0" i="0" dirty="0">
                <a:effectLst/>
              </a:rPr>
              <a:t>Metric Contribution: Across the company, the largest share of impact comes from “Average Performer” and “Low Performer”. This suggests improvement efforts in these segments could have the greatest effect overall. “Bottom Performer” counts are highest in South and West, presenting clear opportunities for improvement in these locations.​</a:t>
            </a:r>
          </a:p>
          <a:p>
            <a:pPr algn="l">
              <a:buFont typeface="Arial" panose="020B0604020202020204" pitchFamily="34" charset="0"/>
              <a:buChar char="•"/>
            </a:pPr>
            <a:r>
              <a:rPr lang="en-US" b="0" i="0" dirty="0">
                <a:effectLst/>
              </a:rPr>
              <a:t>High vs. Low Performer Insights: Low performers register higher total metric sums likely reflecting a larger number of observations rather than quality of outcomes while high performers, though fewer, contribute disproportionately to best results in certain categories. This highlights the importance of not only expanding the high performer pool, but also raising the median quality among average and low performers.</a:t>
            </a:r>
          </a:p>
          <a:p>
            <a:endParaRPr lang="LID4096" dirty="0"/>
          </a:p>
        </p:txBody>
      </p:sp>
    </p:spTree>
    <p:extLst>
      <p:ext uri="{BB962C8B-B14F-4D97-AF65-F5344CB8AC3E}">
        <p14:creationId xmlns:p14="http://schemas.microsoft.com/office/powerpoint/2010/main" val="1568150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42DF7-383E-4A22-A7E2-A967621702A7}"/>
              </a:ext>
            </a:extLst>
          </p:cNvPr>
          <p:cNvSpPr>
            <a:spLocks noGrp="1"/>
          </p:cNvSpPr>
          <p:nvPr>
            <p:ph type="title"/>
          </p:nvPr>
        </p:nvSpPr>
        <p:spPr/>
        <p:txBody>
          <a:bodyPr/>
          <a:lstStyle/>
          <a:p>
            <a:r>
              <a:rPr lang="en-IN" sz="4400" b="1" i="0" u="none" strike="noStrike" baseline="0" dirty="0">
                <a:solidFill>
                  <a:srgbClr val="000000"/>
                </a:solidFill>
                <a:latin typeface="Times New Roman" panose="02020603050405020304" pitchFamily="18" charset="0"/>
              </a:rPr>
              <a:t>Recommendations </a:t>
            </a:r>
            <a:endParaRPr lang="LID4096" dirty="0"/>
          </a:p>
        </p:txBody>
      </p:sp>
      <p:sp>
        <p:nvSpPr>
          <p:cNvPr id="3" name="Content Placeholder 2">
            <a:extLst>
              <a:ext uri="{FF2B5EF4-FFF2-40B4-BE49-F238E27FC236}">
                <a16:creationId xmlns:a16="http://schemas.microsoft.com/office/drawing/2014/main" id="{17AF3AD5-273E-D8BB-6846-C7E2D5EF5858}"/>
              </a:ext>
            </a:extLst>
          </p:cNvPr>
          <p:cNvSpPr>
            <a:spLocks noGrp="1"/>
          </p:cNvSpPr>
          <p:nvPr>
            <p:ph idx="1"/>
          </p:nvPr>
        </p:nvSpPr>
        <p:spPr/>
        <p:txBody>
          <a:bodyPr>
            <a:normAutofit fontScale="70000" lnSpcReduction="20000"/>
          </a:bodyPr>
          <a:lstStyle/>
          <a:p>
            <a:pPr marL="0" indent="0" algn="l">
              <a:buNone/>
            </a:pPr>
            <a:r>
              <a:rPr lang="en-US" b="1" i="0" dirty="0">
                <a:effectLst/>
              </a:rPr>
              <a:t>Suggested Actions</a:t>
            </a:r>
          </a:p>
          <a:p>
            <a:pPr algn="l">
              <a:buFont typeface="Arial" panose="020B0604020202020204" pitchFamily="34" charset="0"/>
              <a:buChar char="•"/>
            </a:pPr>
            <a:r>
              <a:rPr lang="en-US" b="0" i="0" dirty="0">
                <a:effectLst/>
              </a:rPr>
              <a:t>Replicate Best Practices from North: Conduct knowledge-sharing sessions where North region’s top performers can share their strategies, customer engagement techniques, and operational routines with teams from other regions, especially East.​</a:t>
            </a:r>
          </a:p>
          <a:p>
            <a:pPr algn="l">
              <a:buFont typeface="Arial" panose="020B0604020202020204" pitchFamily="34" charset="0"/>
              <a:buChar char="•"/>
            </a:pPr>
            <a:r>
              <a:rPr lang="en-US" b="0" i="0" dirty="0">
                <a:effectLst/>
              </a:rPr>
              <a:t>Targeted Coaching for East: Implement an intensive coaching and mentoring program for Style Advisors in the East region, focusing on bottom and average performers. Analyze gaps in training, resources, or management support and address them proactively.​</a:t>
            </a:r>
          </a:p>
          <a:p>
            <a:pPr algn="l">
              <a:buFont typeface="Arial" panose="020B0604020202020204" pitchFamily="34" charset="0"/>
              <a:buChar char="•"/>
            </a:pPr>
            <a:r>
              <a:rPr lang="en-US" b="0" i="0" dirty="0">
                <a:effectLst/>
              </a:rPr>
              <a:t>Expand High Performer Talent Pool: Facilitate focused development workshops and training for average and low performers, leveraging success stories and skill-building exercises proven effective for high performers in North.​</a:t>
            </a:r>
          </a:p>
          <a:p>
            <a:pPr algn="l">
              <a:buFont typeface="Arial" panose="020B0604020202020204" pitchFamily="34" charset="0"/>
              <a:buChar char="•"/>
            </a:pPr>
            <a:r>
              <a:rPr lang="en-US" b="0" i="0" dirty="0">
                <a:effectLst/>
              </a:rPr>
              <a:t>Data-Driven Performance Tracking: Introduce regular, region-level reviews using granular evaluation criteria (such as store ambiance, first impressions, etc.), allowing ongoing measurement, feedback, and early identification of performance dips.​</a:t>
            </a:r>
          </a:p>
          <a:p>
            <a:pPr algn="l">
              <a:buFont typeface="Arial" panose="020B0604020202020204" pitchFamily="34" charset="0"/>
              <a:buChar char="•"/>
            </a:pPr>
            <a:r>
              <a:rPr lang="en-US" b="0" i="0" dirty="0">
                <a:effectLst/>
              </a:rPr>
              <a:t>Recognize and Reward Improvement: Launch incentive programs celebrating improved scores or successful implementation of new practices, fostering a culture of continual development and motivation across all regions.</a:t>
            </a:r>
          </a:p>
          <a:p>
            <a:endParaRPr lang="LID4096" dirty="0"/>
          </a:p>
        </p:txBody>
      </p:sp>
    </p:spTree>
    <p:extLst>
      <p:ext uri="{BB962C8B-B14F-4D97-AF65-F5344CB8AC3E}">
        <p14:creationId xmlns:p14="http://schemas.microsoft.com/office/powerpoint/2010/main" val="3421725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E1148-DF9C-03F8-4451-2A62287CF365}"/>
              </a:ext>
            </a:extLst>
          </p:cNvPr>
          <p:cNvSpPr>
            <a:spLocks noGrp="1"/>
          </p:cNvSpPr>
          <p:nvPr>
            <p:ph type="title"/>
          </p:nvPr>
        </p:nvSpPr>
        <p:spPr/>
        <p:txBody>
          <a:bodyPr/>
          <a:lstStyle/>
          <a:p>
            <a:r>
              <a:rPr lang="en-IN" sz="4400" b="1" i="0" u="none" strike="noStrike" baseline="0" dirty="0">
                <a:solidFill>
                  <a:srgbClr val="000000"/>
                </a:solidFill>
                <a:latin typeface="Times New Roman" panose="02020603050405020304" pitchFamily="18" charset="0"/>
              </a:rPr>
              <a:t>Recommendations </a:t>
            </a:r>
            <a:endParaRPr lang="LID4096" dirty="0"/>
          </a:p>
        </p:txBody>
      </p:sp>
      <p:sp>
        <p:nvSpPr>
          <p:cNvPr id="3" name="Content Placeholder 2">
            <a:extLst>
              <a:ext uri="{FF2B5EF4-FFF2-40B4-BE49-F238E27FC236}">
                <a16:creationId xmlns:a16="http://schemas.microsoft.com/office/drawing/2014/main" id="{216677DC-B87E-6213-2FD5-71605C6AFB3A}"/>
              </a:ext>
            </a:extLst>
          </p:cNvPr>
          <p:cNvSpPr>
            <a:spLocks noGrp="1"/>
          </p:cNvSpPr>
          <p:nvPr>
            <p:ph idx="1"/>
          </p:nvPr>
        </p:nvSpPr>
        <p:spPr/>
        <p:txBody>
          <a:bodyPr>
            <a:normAutofit fontScale="77500" lnSpcReduction="20000"/>
          </a:bodyPr>
          <a:lstStyle/>
          <a:p>
            <a:pPr marL="0" indent="0" algn="l">
              <a:buNone/>
            </a:pPr>
            <a:r>
              <a:rPr lang="en-US" b="1" i="0" dirty="0">
                <a:effectLst/>
              </a:rPr>
              <a:t>Focus Areas for Improvement</a:t>
            </a:r>
          </a:p>
          <a:p>
            <a:pPr algn="l">
              <a:buFont typeface="Arial" panose="020B0604020202020204" pitchFamily="34" charset="0"/>
              <a:buChar char="•"/>
            </a:pPr>
            <a:r>
              <a:rPr lang="en-US" b="0" i="0" dirty="0">
                <a:effectLst/>
              </a:rPr>
              <a:t>East Region Improvement: All major metrics (store ambiance, first impressions, closure &amp; care, overall experience) are significantly lower in East. Prioritize investment in staff training, customer service protocols, and store environment upgrades here.​</a:t>
            </a:r>
          </a:p>
          <a:p>
            <a:pPr algn="l">
              <a:buFont typeface="Arial" panose="020B0604020202020204" pitchFamily="34" charset="0"/>
              <a:buChar char="•"/>
            </a:pPr>
            <a:r>
              <a:rPr lang="en-US" b="0" i="0" dirty="0">
                <a:effectLst/>
              </a:rPr>
              <a:t>Development of Average and Low Performers: Since a large proportion of Style Advisor evaluations fall into average and low categories, strategic upskilling for these groups will yield the greatest overall performance uplift. Focus coaching on customer discovery techniques, objection handling, and closure.​</a:t>
            </a:r>
          </a:p>
          <a:p>
            <a:pPr algn="l">
              <a:buFont typeface="Arial" panose="020B0604020202020204" pitchFamily="34" charset="0"/>
              <a:buChar char="•"/>
            </a:pPr>
            <a:r>
              <a:rPr lang="en-US" b="0" i="0" dirty="0">
                <a:effectLst/>
              </a:rPr>
              <a:t>Closure &amp; Care and Discovery Metrics: Across multiple regions (especially East, South, and West), scores in closure &amp; care and discovery are consistently lower than in other categories. Improving these will directly enhance customer satisfaction and increase repeat business.​</a:t>
            </a:r>
          </a:p>
          <a:p>
            <a:pPr algn="l">
              <a:buFont typeface="Arial" panose="020B0604020202020204" pitchFamily="34" charset="0"/>
              <a:buChar char="•"/>
            </a:pPr>
            <a:r>
              <a:rPr lang="en-US" b="0" i="0" dirty="0">
                <a:effectLst/>
              </a:rPr>
              <a:t>Consistent Performance Reviews: Standardize feedback and evaluation processes across all regions to ensure all Style Advisors receive actionable insights and development opportunities based on their specific performance data.</a:t>
            </a:r>
          </a:p>
          <a:p>
            <a:endParaRPr lang="LID4096" dirty="0"/>
          </a:p>
        </p:txBody>
      </p:sp>
    </p:spTree>
    <p:extLst>
      <p:ext uri="{BB962C8B-B14F-4D97-AF65-F5344CB8AC3E}">
        <p14:creationId xmlns:p14="http://schemas.microsoft.com/office/powerpoint/2010/main" val="2811171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6ACD4-EBEF-ADFF-39B4-0B03B038399E}"/>
              </a:ext>
            </a:extLst>
          </p:cNvPr>
          <p:cNvSpPr>
            <a:spLocks noGrp="1"/>
          </p:cNvSpPr>
          <p:nvPr>
            <p:ph type="title"/>
          </p:nvPr>
        </p:nvSpPr>
        <p:spPr/>
        <p:txBody>
          <a:bodyPr/>
          <a:lstStyle/>
          <a:p>
            <a:r>
              <a:rPr lang="en-IN" sz="4400" b="1" i="0" u="none" strike="noStrike" baseline="0" dirty="0">
                <a:solidFill>
                  <a:srgbClr val="000000"/>
                </a:solidFill>
                <a:latin typeface="Times New Roman" panose="02020603050405020304" pitchFamily="18" charset="0"/>
              </a:rPr>
              <a:t>Conclusion </a:t>
            </a:r>
            <a:endParaRPr lang="LID4096" dirty="0"/>
          </a:p>
        </p:txBody>
      </p:sp>
      <p:sp>
        <p:nvSpPr>
          <p:cNvPr id="3" name="Content Placeholder 2">
            <a:extLst>
              <a:ext uri="{FF2B5EF4-FFF2-40B4-BE49-F238E27FC236}">
                <a16:creationId xmlns:a16="http://schemas.microsoft.com/office/drawing/2014/main" id="{9D88C592-BBD2-116B-B6DE-3BDBB3C16701}"/>
              </a:ext>
            </a:extLst>
          </p:cNvPr>
          <p:cNvSpPr>
            <a:spLocks noGrp="1"/>
          </p:cNvSpPr>
          <p:nvPr>
            <p:ph idx="1"/>
          </p:nvPr>
        </p:nvSpPr>
        <p:spPr/>
        <p:txBody>
          <a:bodyPr>
            <a:normAutofit fontScale="62500" lnSpcReduction="20000"/>
          </a:bodyPr>
          <a:lstStyle/>
          <a:p>
            <a:pPr marL="0" indent="0" algn="l">
              <a:buNone/>
            </a:pPr>
            <a:r>
              <a:rPr lang="en-US" b="1" i="0" dirty="0">
                <a:effectLst/>
              </a:rPr>
              <a:t>Recap of Findings, Final Thoughts &amp; Next Steps</a:t>
            </a:r>
          </a:p>
          <a:p>
            <a:pPr algn="l">
              <a:buFont typeface="Arial" panose="020B0604020202020204" pitchFamily="34" charset="0"/>
              <a:buChar char="•"/>
            </a:pPr>
            <a:r>
              <a:rPr lang="en-US" b="0" i="0" dirty="0">
                <a:effectLst/>
              </a:rPr>
              <a:t>Our analysis revealed clear distinction in regional performances with North consistently leading across key metrics such as overall score, customer experience factors, and proportion of high performers, while East lags behind significantly and requires urgent development focus.​</a:t>
            </a:r>
          </a:p>
          <a:p>
            <a:pPr algn="l">
              <a:buFont typeface="Arial" panose="020B0604020202020204" pitchFamily="34" charset="0"/>
              <a:buChar char="•"/>
            </a:pPr>
            <a:r>
              <a:rPr lang="en-US" b="0" i="0" dirty="0">
                <a:effectLst/>
              </a:rPr>
              <a:t>South and West maintain robust results, driven largely by strong contributions from average and low performers, indicating that investing in mid-tier talent can yield widespread improvement.​</a:t>
            </a:r>
          </a:p>
          <a:p>
            <a:pPr algn="l">
              <a:buFont typeface="Arial" panose="020B0604020202020204" pitchFamily="34" charset="0"/>
              <a:buChar char="•"/>
            </a:pPr>
            <a:r>
              <a:rPr lang="en-US" b="0" i="0" dirty="0">
                <a:effectLst/>
              </a:rPr>
              <a:t>Trends over time show persistent strength for North and stable performance in West and South, but highlight entrenched challenges in East with no upward trajectory, emphasizing the need for strategic intervention.​</a:t>
            </a:r>
          </a:p>
          <a:p>
            <a:pPr algn="l">
              <a:buFont typeface="Arial" panose="020B0604020202020204" pitchFamily="34" charset="0"/>
              <a:buChar char="•"/>
            </a:pPr>
            <a:r>
              <a:rPr lang="en-US" b="0" i="0" dirty="0">
                <a:effectLst/>
              </a:rPr>
              <a:t>High performers comprise a small but impactful segment, and most Style Advisors fall in average or low performer categories signaling substantial opportunity for improvement through targeted training and ongoing support.​</a:t>
            </a:r>
          </a:p>
          <a:p>
            <a:pPr algn="l">
              <a:buFont typeface="Arial" panose="020B0604020202020204" pitchFamily="34" charset="0"/>
              <a:buChar char="•"/>
            </a:pPr>
            <a:r>
              <a:rPr lang="en-US" b="0" i="0" dirty="0">
                <a:effectLst/>
              </a:rPr>
              <a:t>Going forward, the priority is to replicate North’s best practices region-wide, concentrating support and resources where scores are lowest (especially East), and nurturing the development of average and low performers through coaching, standardized feedback mechanisms, and incentive programs.​</a:t>
            </a:r>
          </a:p>
          <a:p>
            <a:pPr algn="l">
              <a:buFont typeface="Arial" panose="020B0604020202020204" pitchFamily="34" charset="0"/>
              <a:buChar char="•"/>
            </a:pPr>
            <a:r>
              <a:rPr lang="en-US" b="0" i="0" dirty="0">
                <a:effectLst/>
              </a:rPr>
              <a:t>By following these actions, leadership can ensure consistent, data-driven improvements, set clear accountability, and create a culture where top performance is both recognized and achievable for all.</a:t>
            </a:r>
          </a:p>
          <a:p>
            <a:endParaRPr lang="LID4096" dirty="0"/>
          </a:p>
        </p:txBody>
      </p:sp>
    </p:spTree>
    <p:extLst>
      <p:ext uri="{BB962C8B-B14F-4D97-AF65-F5344CB8AC3E}">
        <p14:creationId xmlns:p14="http://schemas.microsoft.com/office/powerpoint/2010/main" val="1928560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6C4B1-F429-B77D-0269-711CC5B6A2C9}"/>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Q&amp;A</a:t>
            </a:r>
            <a:endParaRPr lang="LID4096"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EC65E88D-A85B-BA94-0F32-B14F7E9290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25129" y="1391478"/>
            <a:ext cx="6141742" cy="3418903"/>
          </a:xfrm>
        </p:spPr>
      </p:pic>
    </p:spTree>
    <p:extLst>
      <p:ext uri="{BB962C8B-B14F-4D97-AF65-F5344CB8AC3E}">
        <p14:creationId xmlns:p14="http://schemas.microsoft.com/office/powerpoint/2010/main" val="41941966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TotalTime>
  <Words>2295</Words>
  <Application>Microsoft Office PowerPoint</Application>
  <PresentationFormat>Widescreen</PresentationFormat>
  <Paragraphs>217</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 Light</vt:lpstr>
      <vt:lpstr>fkGrotesk</vt:lpstr>
      <vt:lpstr>fkGroteskNeue</vt:lpstr>
      <vt:lpstr>Times New Roman</vt:lpstr>
      <vt:lpstr>Office Theme</vt:lpstr>
      <vt:lpstr>Evaluation of Style Advisor Performance</vt:lpstr>
      <vt:lpstr>Introduction &amp; Objectives </vt:lpstr>
      <vt:lpstr>Data Overview </vt:lpstr>
      <vt:lpstr>Performance Grading </vt:lpstr>
      <vt:lpstr>Pivot Table Analysis </vt:lpstr>
      <vt:lpstr>High Performer Analysis </vt:lpstr>
      <vt:lpstr>Average Evaluation Scores by Zone </vt:lpstr>
      <vt:lpstr>Average Evaluation Scores by Zone </vt:lpstr>
      <vt:lpstr>Breakdown by Evaluation Criteria </vt:lpstr>
      <vt:lpstr>High vs. Low Performers Comparison </vt:lpstr>
      <vt:lpstr>Regional Performance Overview</vt:lpstr>
      <vt:lpstr>Trends Observed Over Time</vt:lpstr>
      <vt:lpstr>Performance Distribution Analysis</vt:lpstr>
      <vt:lpstr>Recommendations </vt:lpstr>
      <vt:lpstr>Recommendations </vt:lpstr>
      <vt:lpstr>Conclusion </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Abir Acharya</dc:creator>
  <cp:lastModifiedBy>Abir Acharya</cp:lastModifiedBy>
  <cp:revision>1</cp:revision>
  <dcterms:created xsi:type="dcterms:W3CDTF">2025-10-13T21:59:57Z</dcterms:created>
  <dcterms:modified xsi:type="dcterms:W3CDTF">2025-10-13T22:30:57Z</dcterms:modified>
</cp:coreProperties>
</file>