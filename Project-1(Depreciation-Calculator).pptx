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0C35-ECB9-EBDA-18E3-19DCDED81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9D771-4C4E-730B-D807-3641BBDC6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06519-995E-7407-E7DB-4A145E23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7522-364E-440A-AA23-86ABF876BD92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F06A1-13F2-E5D4-5C0E-B561E4697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F33E4-729A-EF7B-F281-A348ADE1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BF3F-4606-4EF4-AAF5-AE904605DC1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784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2FC02-7FF6-D734-B7CC-716A08DBA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CEBC1-B450-4965-FD15-21C0F30E7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B9AB4-3152-F667-CB7D-5CEE405C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7522-364E-440A-AA23-86ABF876BD92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52645-D8BC-46AB-F79D-865D33C81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BE394-A930-C47C-DB6E-237627FC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BF3F-4606-4EF4-AAF5-AE904605DC1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430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ACFDF-EB01-4D83-2E84-47B9932D9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A58E7-7225-3D25-3C10-5D1457705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AD1C4-6ADD-C051-14D0-5F5C8F34F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7522-364E-440A-AA23-86ABF876BD92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7F599-7F74-FA8B-8E41-625DF2C20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77144-8066-7BBE-620D-2E445C6AB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BF3F-4606-4EF4-AAF5-AE904605DC1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4490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4D74-3B6E-0219-CDD5-88F8954C1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211AB-B021-2409-7250-FB10A4BAF8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14AB41-3D09-6F74-9FDC-7D3F882F5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E52A7-7888-BD23-5816-7BB104CD3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7522-364E-440A-AA23-86ABF876BD92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CE5E4-B47C-CD6F-9FD7-C4078265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6CA37-A688-09F2-BCD0-F6A625109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BF3F-4606-4EF4-AAF5-AE904605DC1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0452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BA28-1E11-BB64-FBDE-348701F29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05B85-4032-BCEA-805C-7373B9531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47DBF-5569-B625-21A2-73BFE834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328A69-E8CE-809A-7A3E-F109B804A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0DA74-DCD2-1AEE-5696-C60DEF8928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B37663-AC3F-3606-84AD-6CECD9CBA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7522-364E-440A-AA23-86ABF876BD92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575080-19FD-23A7-32FC-813179DFC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5B7335-10DD-5F0A-EDE4-A962FD46D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BF3F-4606-4EF4-AAF5-AE904605DC1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997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26B1-8F67-B067-0657-230570134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9560D-D406-F59D-825F-829FF39FA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7522-364E-440A-AA23-86ABF876BD92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34292-9131-7FDE-A2F3-841DEC28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9A974-500D-D313-0AC2-E3D62FF1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BF3F-4606-4EF4-AAF5-AE904605DC1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60308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DE759A-30AD-C55B-86BC-9FAD3763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7522-364E-440A-AA23-86ABF876BD92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7FCE4B-C252-7D96-6CE4-05469820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E6711-1210-195A-CA46-3B0A3108B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BF3F-4606-4EF4-AAF5-AE904605DC1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4627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9F626-7D1A-CF38-4D1A-62B87B9B1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A7D78-016E-3248-FC3B-851FFA593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9A2343-A73C-394D-D301-43D2ED8D4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ABFA-99F0-3634-CED1-0BF391942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7522-364E-440A-AA23-86ABF876BD92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D792A-2B4C-8821-E15E-92F7DF9F5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7A433-1A79-6DBE-2407-31DAAF4CB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BF3F-4606-4EF4-AAF5-AE904605DC1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17540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5E45-198B-6D70-F6AC-28A4C7C52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CAFB31-A286-0701-E8AE-0A9DF1554B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E947B-04A9-FA3C-0332-A35A2199A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60963-139B-D1B1-7D14-8C05540E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7522-364E-440A-AA23-86ABF876BD92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3779E-F34A-4A05-3EA4-2E4A4146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75AA1-91D1-4550-15F1-4087343D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BF3F-4606-4EF4-AAF5-AE904605DC1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24869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B914-EAB7-07D0-7B4E-2356147F5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CC980-729E-8940-E66E-1ECB8EE27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A487C-AE39-6595-0CEA-84433844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7522-364E-440A-AA23-86ABF876BD92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418D1-1E7F-70FD-4594-29A8F24F2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90762-AE8D-4116-7B90-2D5DB3C7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BF3F-4606-4EF4-AAF5-AE904605DC1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240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EF0C4-F45C-BAC6-D367-84182AFE52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6CA7A-2D3E-DC52-6E89-BB58EE73F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1788B-FFB7-6240-6A68-33F85A75C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E7522-364E-440A-AA23-86ABF876BD92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AA19F-A6A6-84BC-E7AB-DD7FBDA59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D1AD5-88B3-105A-DE33-3104A8D31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BF3F-4606-4EF4-AAF5-AE904605DC1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1998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A116A4-C5FE-FCCA-0875-75A4ABF41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83772-D755-7113-0456-1B69042C0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D261D-791D-226A-889A-B8FC6DE78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7522-364E-440A-AA23-86ABF876BD92}" type="datetimeFigureOut">
              <a:rPr lang="LID4096" smtClean="0"/>
              <a:t>10/10/2025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D4033-1CC0-8355-5882-9B05155935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01875-093B-A71C-30B8-AE0400932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EBF3F-4606-4EF4-AAF5-AE904605DC17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4255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C4D4AC-3544-CB37-E87B-A860645FBC7A}"/>
              </a:ext>
            </a:extLst>
          </p:cNvPr>
          <p:cNvSpPr txBox="1"/>
          <p:nvPr/>
        </p:nvSpPr>
        <p:spPr>
          <a:xfrm>
            <a:off x="547437" y="421105"/>
            <a:ext cx="928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Calculate the annual depreciation amount using the straight-line method for the given asset. </a:t>
            </a:r>
            <a:endParaRPr lang="LID4096" b="1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AE6F7-26DF-C221-3C2C-2E97DAE22057}"/>
              </a:ext>
            </a:extLst>
          </p:cNvPr>
          <p:cNvSpPr txBox="1"/>
          <p:nvPr/>
        </p:nvSpPr>
        <p:spPr>
          <a:xfrm>
            <a:off x="547437" y="1100889"/>
            <a:ext cx="10556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Below is the given Depreciation Calculator wherein depreciation is to be calculated with a Straight-line method.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E0648-547B-3E52-F06E-2FE1A51E5BFC}"/>
              </a:ext>
            </a:extLst>
          </p:cNvPr>
          <p:cNvSpPr txBox="1"/>
          <p:nvPr/>
        </p:nvSpPr>
        <p:spPr>
          <a:xfrm>
            <a:off x="547437" y="2931912"/>
            <a:ext cx="10954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order to find out the depreciation, we need to apply the following formula: </a:t>
            </a:r>
            <a:r>
              <a:rPr lang="en-US" b="1" dirty="0">
                <a:highlight>
                  <a:srgbClr val="FFFF00"/>
                </a:highlight>
              </a:rPr>
              <a:t>=(D8-D9)/D10</a:t>
            </a:r>
            <a:br>
              <a:rPr lang="en-US" b="1" dirty="0">
                <a:highlight>
                  <a:srgbClr val="FFFF00"/>
                </a:highlight>
              </a:rPr>
            </a:br>
            <a:r>
              <a:rPr lang="en-US" dirty="0"/>
              <a:t>This formula is Depreciation per year = (Asset Price - Scrap Value) / Estimated Life Span.</a:t>
            </a:r>
            <a:br>
              <a:rPr lang="en-US" dirty="0"/>
            </a:br>
            <a:r>
              <a:rPr lang="en-US" dirty="0"/>
              <a:t>We get the following result for 10 years: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A3CEC6-E029-9D67-C66A-E767EAA85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37" y="1470221"/>
            <a:ext cx="2570296" cy="14155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FBEF5C-99B6-59A1-8ADB-A001A1D41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7" y="3855242"/>
            <a:ext cx="4716379" cy="199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74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C4D4AC-3544-CB37-E87B-A860645FBC7A}"/>
              </a:ext>
            </a:extLst>
          </p:cNvPr>
          <p:cNvSpPr txBox="1"/>
          <p:nvPr/>
        </p:nvSpPr>
        <p:spPr>
          <a:xfrm>
            <a:off x="547437" y="421105"/>
            <a:ext cx="905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Calculate the total depreciation for the asset's entire life span using the straight-line method. </a:t>
            </a:r>
            <a:endParaRPr lang="LID4096" b="1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AE6F7-26DF-C221-3C2C-2E97DAE22057}"/>
              </a:ext>
            </a:extLst>
          </p:cNvPr>
          <p:cNvSpPr txBox="1"/>
          <p:nvPr/>
        </p:nvSpPr>
        <p:spPr>
          <a:xfrm>
            <a:off x="547437" y="1100889"/>
            <a:ext cx="10556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Below is the given Depreciation Calculator wherein depreciation is to be calculated with a Straight-line method.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E0648-547B-3E52-F06E-2FE1A51E5BFC}"/>
              </a:ext>
            </a:extLst>
          </p:cNvPr>
          <p:cNvSpPr txBox="1"/>
          <p:nvPr/>
        </p:nvSpPr>
        <p:spPr>
          <a:xfrm>
            <a:off x="547437" y="2931912"/>
            <a:ext cx="10954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order to find out the depreciation, we need to apply the following formula: </a:t>
            </a:r>
            <a:r>
              <a:rPr lang="en-US" b="1" dirty="0">
                <a:highlight>
                  <a:srgbClr val="FFFF00"/>
                </a:highlight>
              </a:rPr>
              <a:t>=SUM(C26:C35)</a:t>
            </a:r>
            <a:br>
              <a:rPr lang="en-US" b="1" dirty="0">
                <a:highlight>
                  <a:srgbClr val="FFFF00"/>
                </a:highlight>
              </a:rPr>
            </a:br>
            <a:r>
              <a:rPr lang="en-US" dirty="0"/>
              <a:t>We get the following result for 10 years: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A3CEC6-E029-9D67-C66A-E767EAA85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37" y="1470221"/>
            <a:ext cx="2570296" cy="14155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0120F2-F40C-8D76-3301-F5F46AF48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7" y="3578243"/>
            <a:ext cx="4696374" cy="214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50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C4D4AC-3544-CB37-E87B-A860645FBC7A}"/>
              </a:ext>
            </a:extLst>
          </p:cNvPr>
          <p:cNvSpPr txBox="1"/>
          <p:nvPr/>
        </p:nvSpPr>
        <p:spPr>
          <a:xfrm>
            <a:off x="547436" y="421105"/>
            <a:ext cx="1030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What is the depreciated book value of the asset after its life span using the straight-line method?</a:t>
            </a:r>
            <a:endParaRPr lang="LID4096" b="1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AE6F7-26DF-C221-3C2C-2E97DAE22057}"/>
              </a:ext>
            </a:extLst>
          </p:cNvPr>
          <p:cNvSpPr txBox="1"/>
          <p:nvPr/>
        </p:nvSpPr>
        <p:spPr>
          <a:xfrm>
            <a:off x="547437" y="1100889"/>
            <a:ext cx="10556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Below is the given Depreciation Calculator wherein depreciation is to be calculated with a Straight-line method.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E0648-547B-3E52-F06E-2FE1A51E5BFC}"/>
              </a:ext>
            </a:extLst>
          </p:cNvPr>
          <p:cNvSpPr txBox="1"/>
          <p:nvPr/>
        </p:nvSpPr>
        <p:spPr>
          <a:xfrm>
            <a:off x="547437" y="2931912"/>
            <a:ext cx="10954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Depreciated book value can be found in the cell “D35” with a value of $72,112.64 which is calculated after depreciation of the asset value for 10 years using a straight line method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A3CEC6-E029-9D67-C66A-E767EAA85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37" y="1470221"/>
            <a:ext cx="2570296" cy="14155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0120F2-F40C-8D76-3301-F5F46AF48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7" y="3578243"/>
            <a:ext cx="4696374" cy="214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07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C4D4AC-3544-CB37-E87B-A860645FBC7A}"/>
              </a:ext>
            </a:extLst>
          </p:cNvPr>
          <p:cNvSpPr txBox="1"/>
          <p:nvPr/>
        </p:nvSpPr>
        <p:spPr>
          <a:xfrm>
            <a:off x="547436" y="421105"/>
            <a:ext cx="1030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Calculate the rate of depreciation per year as per the diminishing balance method.</a:t>
            </a:r>
            <a:endParaRPr lang="LID4096" b="1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AE6F7-26DF-C221-3C2C-2E97DAE22057}"/>
              </a:ext>
            </a:extLst>
          </p:cNvPr>
          <p:cNvSpPr txBox="1"/>
          <p:nvPr/>
        </p:nvSpPr>
        <p:spPr>
          <a:xfrm>
            <a:off x="547437" y="1100889"/>
            <a:ext cx="1133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Below is the given Depreciation Calculator wherein depreciation is to be calculated with a diminishing balance method.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E0648-547B-3E52-F06E-2FE1A51E5BFC}"/>
              </a:ext>
            </a:extLst>
          </p:cNvPr>
          <p:cNvSpPr txBox="1"/>
          <p:nvPr/>
        </p:nvSpPr>
        <p:spPr>
          <a:xfrm>
            <a:off x="547437" y="2931912"/>
            <a:ext cx="109547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order to find out the depreciation, we need to first find out “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Depreciation per year”. This can be found out by the formula: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Depreciation per year = Book Value at Beginning of Year *Depreciation Rate. So applying this in the workbook, we use the formula: </a:t>
            </a:r>
            <a:r>
              <a:rPr lang="en-US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=C26*$D$23.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This results in the value of $1,02,835.88 for 1</a:t>
            </a:r>
            <a:r>
              <a:rPr lang="en-US" sz="1800" b="0" i="0" u="none" strike="noStrike" baseline="30000" dirty="0">
                <a:solidFill>
                  <a:srgbClr val="000000"/>
                </a:solidFill>
                <a:latin typeface="Times New Roman" panose="02020603050405020304" pitchFamily="18" charset="0"/>
              </a:rPr>
              <a:t>st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year.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2EC48-4FDF-FD84-CCA8-D7C454E7D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36" y="1426919"/>
            <a:ext cx="6063917" cy="15068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EFEA0A-7560-CFF5-D26B-C238F6964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6" y="3855241"/>
            <a:ext cx="5329100" cy="258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68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C4D4AC-3544-CB37-E87B-A860645FBC7A}"/>
              </a:ext>
            </a:extLst>
          </p:cNvPr>
          <p:cNvSpPr txBox="1"/>
          <p:nvPr/>
        </p:nvSpPr>
        <p:spPr>
          <a:xfrm>
            <a:off x="547436" y="421105"/>
            <a:ext cx="10305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What is the depreciation amount for the asset in the second year according to the diminishing balance method?</a:t>
            </a:r>
            <a:endParaRPr lang="LID4096" b="1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AE6F7-26DF-C221-3C2C-2E97DAE22057}"/>
              </a:ext>
            </a:extLst>
          </p:cNvPr>
          <p:cNvSpPr txBox="1"/>
          <p:nvPr/>
        </p:nvSpPr>
        <p:spPr>
          <a:xfrm>
            <a:off x="547437" y="1100889"/>
            <a:ext cx="1133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Below is the given Depreciation Calculator wherein depreciation is to be calculated with a diminishing balance method.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E0648-547B-3E52-F06E-2FE1A51E5BFC}"/>
              </a:ext>
            </a:extLst>
          </p:cNvPr>
          <p:cNvSpPr txBox="1"/>
          <p:nvPr/>
        </p:nvSpPr>
        <p:spPr>
          <a:xfrm>
            <a:off x="547437" y="2931912"/>
            <a:ext cx="109547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order to find out the depreciation amount for the 2</a:t>
            </a:r>
            <a:r>
              <a:rPr lang="en-US" baseline="30000" dirty="0"/>
              <a:t>nd</a:t>
            </a:r>
            <a:r>
              <a:rPr lang="en-US" dirty="0"/>
              <a:t> year, we need to first find out the closing value of the asset after 1</a:t>
            </a:r>
            <a:r>
              <a:rPr lang="en-US" baseline="30000" dirty="0"/>
              <a:t>st</a:t>
            </a:r>
            <a:r>
              <a:rPr lang="en-US" dirty="0"/>
              <a:t> year. As we already know the depreciation amount for the 1</a:t>
            </a:r>
            <a:r>
              <a:rPr lang="en-US" baseline="30000" dirty="0"/>
              <a:t>st</a:t>
            </a:r>
            <a:r>
              <a:rPr lang="en-US" dirty="0"/>
              <a:t> year, we can deduct the same from the Opening value. Using the closing value as the Opening value for the 2</a:t>
            </a:r>
            <a:r>
              <a:rPr lang="en-US" baseline="30000" dirty="0"/>
              <a:t>nd</a:t>
            </a:r>
            <a:r>
              <a:rPr lang="en-US" dirty="0"/>
              <a:t> year, we can use the formula: </a:t>
            </a:r>
            <a:r>
              <a:rPr lang="en-US" dirty="0">
                <a:highlight>
                  <a:srgbClr val="FFFF00"/>
                </a:highlight>
              </a:rPr>
              <a:t>=C27*$D$23</a:t>
            </a:r>
            <a:r>
              <a:rPr lang="en-US" dirty="0"/>
              <a:t> to find out the depreciation amount for the 2</a:t>
            </a:r>
            <a:r>
              <a:rPr lang="en-US" baseline="30000" dirty="0"/>
              <a:t>nd</a:t>
            </a:r>
            <a:r>
              <a:rPr lang="en-US" dirty="0"/>
              <a:t> year. This comes to the value of $81,685.45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2EC48-4FDF-FD84-CCA8-D7C454E7D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36" y="1426919"/>
            <a:ext cx="6063917" cy="15068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EFEA0A-7560-CFF5-D26B-C238F6964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6" y="4134584"/>
            <a:ext cx="4752475" cy="230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32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C4D4AC-3544-CB37-E87B-A860645FBC7A}"/>
              </a:ext>
            </a:extLst>
          </p:cNvPr>
          <p:cNvSpPr txBox="1"/>
          <p:nvPr/>
        </p:nvSpPr>
        <p:spPr>
          <a:xfrm>
            <a:off x="547436" y="421105"/>
            <a:ext cx="1030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What is the book value of the asset in the fourth year using the diminishing balance method?</a:t>
            </a:r>
            <a:endParaRPr lang="LID4096" b="1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AE6F7-26DF-C221-3C2C-2E97DAE22057}"/>
              </a:ext>
            </a:extLst>
          </p:cNvPr>
          <p:cNvSpPr txBox="1"/>
          <p:nvPr/>
        </p:nvSpPr>
        <p:spPr>
          <a:xfrm>
            <a:off x="547436" y="924012"/>
            <a:ext cx="1133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Below is the given Depreciation Calculator wherein depreciation is to be calculated with a diminishing balance method.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E0648-547B-3E52-F06E-2FE1A51E5BFC}"/>
              </a:ext>
            </a:extLst>
          </p:cNvPr>
          <p:cNvSpPr txBox="1"/>
          <p:nvPr/>
        </p:nvSpPr>
        <p:spPr>
          <a:xfrm>
            <a:off x="547436" y="2867217"/>
            <a:ext cx="109547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order to find out the book value of the asset for the 4</a:t>
            </a:r>
            <a:r>
              <a:rPr lang="en-US" baseline="30000" dirty="0"/>
              <a:t>th</a:t>
            </a:r>
            <a:r>
              <a:rPr lang="en-US" dirty="0"/>
              <a:t> year, we need to first find out the closing value of the asset after 3</a:t>
            </a:r>
            <a:r>
              <a:rPr lang="en-US" baseline="30000" dirty="0"/>
              <a:t>rd</a:t>
            </a:r>
            <a:r>
              <a:rPr lang="en-US" dirty="0"/>
              <a:t> year. As we already know the depreciation amount for the 3</a:t>
            </a:r>
            <a:r>
              <a:rPr lang="en-US" baseline="30000" dirty="0"/>
              <a:t>rd</a:t>
            </a:r>
            <a:r>
              <a:rPr lang="en-US" dirty="0"/>
              <a:t> year, we can deduct the same from the Opening value. Using the closing value as the Opening value for the 4</a:t>
            </a:r>
            <a:r>
              <a:rPr lang="en-US" baseline="30000" dirty="0"/>
              <a:t>th</a:t>
            </a:r>
            <a:r>
              <a:rPr lang="en-US" dirty="0"/>
              <a:t> year, we get the book value of the asset for the 4</a:t>
            </a:r>
            <a:r>
              <a:rPr lang="en-US" baseline="30000" dirty="0"/>
              <a:t>th</a:t>
            </a:r>
            <a:r>
              <a:rPr lang="en-US" dirty="0"/>
              <a:t> year. This comes to $2,50,53.62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2EC48-4FDF-FD84-CCA8-D7C454E7D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36" y="1293344"/>
            <a:ext cx="6063917" cy="15068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EFEA0A-7560-CFF5-D26B-C238F6964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6" y="4134584"/>
            <a:ext cx="4752475" cy="230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857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C4D4AC-3544-CB37-E87B-A860645FBC7A}"/>
              </a:ext>
            </a:extLst>
          </p:cNvPr>
          <p:cNvSpPr txBox="1"/>
          <p:nvPr/>
        </p:nvSpPr>
        <p:spPr>
          <a:xfrm>
            <a:off x="547436" y="421105"/>
            <a:ext cx="1030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Calculate the total depreciation for the asset's entire life span using the diminishing balance method.</a:t>
            </a:r>
            <a:endParaRPr lang="LID4096" b="1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AE6F7-26DF-C221-3C2C-2E97DAE22057}"/>
              </a:ext>
            </a:extLst>
          </p:cNvPr>
          <p:cNvSpPr txBox="1"/>
          <p:nvPr/>
        </p:nvSpPr>
        <p:spPr>
          <a:xfrm>
            <a:off x="547436" y="924012"/>
            <a:ext cx="1133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Below is the given Depreciation Calculator wherein depreciation is to be calculated with a diminishing balance method.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E0648-547B-3E52-F06E-2FE1A51E5BFC}"/>
              </a:ext>
            </a:extLst>
          </p:cNvPr>
          <p:cNvSpPr txBox="1"/>
          <p:nvPr/>
        </p:nvSpPr>
        <p:spPr>
          <a:xfrm>
            <a:off x="547436" y="2867217"/>
            <a:ext cx="10954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order to find out the total depreciation amount for the asset’s entire life span, we can add all the amount in the “Depreciation per year” column with the formula: </a:t>
            </a:r>
            <a:r>
              <a:rPr lang="en-US" dirty="0">
                <a:highlight>
                  <a:srgbClr val="FFFF00"/>
                </a:highlight>
              </a:rPr>
              <a:t>=SUM(D26:D35). </a:t>
            </a:r>
            <a:r>
              <a:rPr lang="en-US" dirty="0"/>
              <a:t>The total comes to $4,50,000.00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2EC48-4FDF-FD84-CCA8-D7C454E7D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36" y="1293344"/>
            <a:ext cx="6063917" cy="15068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70FCE5-46AA-D534-E985-7261A0257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6" y="3513548"/>
            <a:ext cx="5526250" cy="312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389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C4D4AC-3544-CB37-E87B-A860645FBC7A}"/>
              </a:ext>
            </a:extLst>
          </p:cNvPr>
          <p:cNvSpPr txBox="1"/>
          <p:nvPr/>
        </p:nvSpPr>
        <p:spPr>
          <a:xfrm>
            <a:off x="547436" y="421105"/>
            <a:ext cx="1030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What is the book value of the asset after its life span using the diminishing balance method?</a:t>
            </a:r>
            <a:endParaRPr lang="LID4096" b="1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AE6F7-26DF-C221-3C2C-2E97DAE22057}"/>
              </a:ext>
            </a:extLst>
          </p:cNvPr>
          <p:cNvSpPr txBox="1"/>
          <p:nvPr/>
        </p:nvSpPr>
        <p:spPr>
          <a:xfrm>
            <a:off x="547436" y="924012"/>
            <a:ext cx="11339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Below is the given Depreciation Calculator wherein depreciation is to be calculated with a diminishing balance method.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E0648-547B-3E52-F06E-2FE1A51E5BFC}"/>
              </a:ext>
            </a:extLst>
          </p:cNvPr>
          <p:cNvSpPr txBox="1"/>
          <p:nvPr/>
        </p:nvSpPr>
        <p:spPr>
          <a:xfrm>
            <a:off x="547436" y="2867217"/>
            <a:ext cx="10954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order to find out the book value of the asset after its life span (10 years) we need to look at the closing value for the 10</a:t>
            </a:r>
            <a:r>
              <a:rPr lang="en-US" baseline="30000" dirty="0"/>
              <a:t>th</a:t>
            </a:r>
            <a:r>
              <a:rPr lang="en-US" dirty="0"/>
              <a:t> year. This amount is $50,000.00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2EC48-4FDF-FD84-CCA8-D7C454E7D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36" y="1293344"/>
            <a:ext cx="6063917" cy="15068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70FCE5-46AA-D534-E985-7261A0257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6" y="3513548"/>
            <a:ext cx="5526250" cy="312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93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C4D4AC-3544-CB37-E87B-A860645FBC7A}"/>
              </a:ext>
            </a:extLst>
          </p:cNvPr>
          <p:cNvSpPr txBox="1"/>
          <p:nvPr/>
        </p:nvSpPr>
        <p:spPr>
          <a:xfrm>
            <a:off x="547436" y="93015"/>
            <a:ext cx="10305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</a:rPr>
              <a:t>Compare the total depreciation amounts obtained from the straight-line method and the diminishing balance method. Which method results in higher total depreciation?</a:t>
            </a:r>
            <a:endParaRPr lang="LID4096" b="1" i="1" dirty="0">
              <a:solidFill>
                <a:srgbClr val="FF0000"/>
              </a:solidFill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0A39F04-AEBF-F91E-FB1C-4BFC435D0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076283"/>
              </p:ext>
            </p:extLst>
          </p:nvPr>
        </p:nvGraphicFramePr>
        <p:xfrm>
          <a:off x="547437" y="739346"/>
          <a:ext cx="9619248" cy="2640072"/>
        </p:xfrm>
        <a:graphic>
          <a:graphicData uri="http://schemas.openxmlformats.org/drawingml/2006/table">
            <a:tbl>
              <a:tblPr/>
              <a:tblGrid>
                <a:gridCol w="3206416">
                  <a:extLst>
                    <a:ext uri="{9D8B030D-6E8A-4147-A177-3AD203B41FA5}">
                      <a16:colId xmlns:a16="http://schemas.microsoft.com/office/drawing/2014/main" val="2179459509"/>
                    </a:ext>
                  </a:extLst>
                </a:gridCol>
                <a:gridCol w="3206416">
                  <a:extLst>
                    <a:ext uri="{9D8B030D-6E8A-4147-A177-3AD203B41FA5}">
                      <a16:colId xmlns:a16="http://schemas.microsoft.com/office/drawing/2014/main" val="2108337060"/>
                    </a:ext>
                  </a:extLst>
                </a:gridCol>
                <a:gridCol w="3206416">
                  <a:extLst>
                    <a:ext uri="{9D8B030D-6E8A-4147-A177-3AD203B41FA5}">
                      <a16:colId xmlns:a16="http://schemas.microsoft.com/office/drawing/2014/main" val="2898292166"/>
                    </a:ext>
                  </a:extLst>
                </a:gridCol>
              </a:tblGrid>
              <a:tr h="167530">
                <a:tc>
                  <a:txBody>
                    <a:bodyPr/>
                    <a:lstStyle/>
                    <a:p>
                      <a:r>
                        <a:rPr lang="en-IN" sz="1000" b="1"/>
                        <a:t>Particulars</a:t>
                      </a:r>
                      <a:endParaRPr lang="en-IN" sz="10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Straight-Line Method</a:t>
                      </a:r>
                      <a:endParaRPr lang="en-IN" sz="10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Diminishing Balance Method</a:t>
                      </a:r>
                      <a:endParaRPr lang="en-IN" sz="10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189920"/>
                  </a:ext>
                </a:extLst>
              </a:tr>
              <a:tr h="167530">
                <a:tc>
                  <a:txBody>
                    <a:bodyPr/>
                    <a:lstStyle/>
                    <a:p>
                      <a:r>
                        <a:rPr lang="en-IN" sz="1000" b="1" dirty="0"/>
                        <a:t>Asset Cost</a:t>
                      </a:r>
                      <a:endParaRPr lang="en-IN" sz="1000" dirty="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001" sz="1000"/>
                        <a:t>₹5,00,000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001" sz="1000"/>
                        <a:t>₹5,00,000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63542"/>
                  </a:ext>
                </a:extLst>
              </a:tr>
              <a:tr h="167530">
                <a:tc>
                  <a:txBody>
                    <a:bodyPr/>
                    <a:lstStyle/>
                    <a:p>
                      <a:r>
                        <a:rPr lang="en-IN" sz="1000" b="1"/>
                        <a:t>Scrap Value</a:t>
                      </a:r>
                      <a:endParaRPr lang="en-IN" sz="10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001" sz="1000"/>
                        <a:t>₹50,000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001" sz="1000"/>
                        <a:t>₹50,000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590282"/>
                  </a:ext>
                </a:extLst>
              </a:tr>
              <a:tr h="167530">
                <a:tc>
                  <a:txBody>
                    <a:bodyPr/>
                    <a:lstStyle/>
                    <a:p>
                      <a:r>
                        <a:rPr lang="en-IN" sz="1000" b="1"/>
                        <a:t>Estimated Life (Years)</a:t>
                      </a:r>
                      <a:endParaRPr lang="en-IN" sz="10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001" sz="1000"/>
                        <a:t>10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001" sz="1000"/>
                        <a:t>10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649030"/>
                  </a:ext>
                </a:extLst>
              </a:tr>
              <a:tr h="167530">
                <a:tc>
                  <a:txBody>
                    <a:bodyPr/>
                    <a:lstStyle/>
                    <a:p>
                      <a:r>
                        <a:rPr lang="en-IN" sz="1000" b="1"/>
                        <a:t>Depreciation Rate</a:t>
                      </a:r>
                      <a:endParaRPr lang="en-IN" sz="10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001" sz="1000"/>
                        <a:t>9%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001" sz="1000"/>
                        <a:t>20.57%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468994"/>
                  </a:ext>
                </a:extLst>
              </a:tr>
              <a:tr h="167530">
                <a:tc>
                  <a:txBody>
                    <a:bodyPr/>
                    <a:lstStyle/>
                    <a:p>
                      <a:r>
                        <a:rPr lang="en-IN" sz="1000" b="1"/>
                        <a:t>Annual Depreciation Pattern</a:t>
                      </a:r>
                      <a:endParaRPr lang="en-IN" sz="10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Fixed every year (₹45,000 per year)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Reduces each year based on book value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157187"/>
                  </a:ext>
                </a:extLst>
              </a:tr>
              <a:tr h="167530">
                <a:tc>
                  <a:txBody>
                    <a:bodyPr/>
                    <a:lstStyle/>
                    <a:p>
                      <a:r>
                        <a:rPr lang="en-US" sz="1000" b="1" dirty="0"/>
                        <a:t>Total Depreciation Over Life Span</a:t>
                      </a:r>
                      <a:endParaRPr lang="en-US" sz="1000" dirty="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001" sz="1000"/>
                        <a:t>₹4,42,718.89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001" sz="1000"/>
                        <a:t>₹4,50,000.00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332167"/>
                  </a:ext>
                </a:extLst>
              </a:tr>
              <a:tr h="167530">
                <a:tc>
                  <a:txBody>
                    <a:bodyPr/>
                    <a:lstStyle/>
                    <a:p>
                      <a:r>
                        <a:rPr lang="en-US" sz="1000" b="1"/>
                        <a:t>Book Value at End of Life</a:t>
                      </a:r>
                      <a:endParaRPr lang="en-US" sz="10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001" sz="1000"/>
                        <a:t>₹50,000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001" sz="1000"/>
                        <a:t>₹50,000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098991"/>
                  </a:ext>
                </a:extLst>
              </a:tr>
              <a:tr h="167530">
                <a:tc>
                  <a:txBody>
                    <a:bodyPr/>
                    <a:lstStyle/>
                    <a:p>
                      <a:r>
                        <a:rPr lang="en-IN" sz="1000" b="1"/>
                        <a:t>Depreciation Trend</a:t>
                      </a:r>
                      <a:endParaRPr lang="en-IN" sz="10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Equal expense throughout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Higher in early years, lower in later years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865916"/>
                  </a:ext>
                </a:extLst>
              </a:tr>
              <a:tr h="167530">
                <a:tc>
                  <a:txBody>
                    <a:bodyPr/>
                    <a:lstStyle/>
                    <a:p>
                      <a:r>
                        <a:rPr lang="en-IN" sz="1000" b="1"/>
                        <a:t>Complexity</a:t>
                      </a:r>
                      <a:endParaRPr lang="en-IN" sz="10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Simple to calculate and apply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Requires recalculating each year’s value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405411"/>
                  </a:ext>
                </a:extLst>
              </a:tr>
              <a:tr h="280426">
                <a:tc>
                  <a:txBody>
                    <a:bodyPr/>
                    <a:lstStyle/>
                    <a:p>
                      <a:r>
                        <a:rPr lang="en-IN" sz="1000" b="1"/>
                        <a:t>Best Suited For</a:t>
                      </a:r>
                      <a:endParaRPr lang="en-IN" sz="10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Assets that provide uniform benefit over time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Assets that lose value faster in initial years (e.g., machinery, equipment)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80144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4FA63DC2-ADD0-4C77-DCD6-6B1B7104D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3351659"/>
            <a:ext cx="3264567" cy="320627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B9B11B8-9273-94EE-94AE-3C793B481B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616" y="3429000"/>
            <a:ext cx="3638551" cy="271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921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88E7C1-D41D-E44B-974E-E5A347662259}"/>
              </a:ext>
            </a:extLst>
          </p:cNvPr>
          <p:cNvSpPr txBox="1"/>
          <p:nvPr/>
        </p:nvSpPr>
        <p:spPr>
          <a:xfrm>
            <a:off x="457199" y="464277"/>
            <a:ext cx="7800533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Comparing the two methods, the </a:t>
            </a:r>
            <a:r>
              <a:rPr lang="en-US" sz="1050" b="1" dirty="0"/>
              <a:t>Diminishing Balance Method results in slightly higher total depreciation</a:t>
            </a:r>
            <a:r>
              <a:rPr lang="en-US" sz="1050" dirty="0"/>
              <a:t> than the Straight-Line Method.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This approach provides a </a:t>
            </a:r>
            <a:r>
              <a:rPr lang="en-US" sz="1050" b="1" dirty="0"/>
              <a:t>more realistic reflection of an asset’s usage and wear</a:t>
            </a:r>
            <a:r>
              <a:rPr lang="en-US" sz="1050" dirty="0"/>
              <a:t> in the initial years.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The </a:t>
            </a:r>
            <a:r>
              <a:rPr lang="en-US" sz="1050" b="1" dirty="0"/>
              <a:t>Straight-Line Method</a:t>
            </a:r>
            <a:r>
              <a:rPr lang="en-US" sz="1050" dirty="0"/>
              <a:t>, on the other hand, offers </a:t>
            </a:r>
            <a:r>
              <a:rPr lang="en-US" sz="1050" b="1" dirty="0"/>
              <a:t>simplicity and stability</a:t>
            </a:r>
            <a:r>
              <a:rPr lang="en-US" sz="1050" dirty="0"/>
              <a:t> in financial reporting.</a:t>
            </a:r>
          </a:p>
          <a:p>
            <a:endParaRPr lang="LID4096" sz="10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2BB4CB-512B-8B47-1751-3ABB09C2E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693" y="3879122"/>
            <a:ext cx="4988939" cy="27913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0D1B3F9-C97D-E7D1-5C88-9CB2F23E2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36" y="3879123"/>
            <a:ext cx="4487780" cy="27913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3D3DC1-F56C-3D05-DAC1-86796397C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376" y="926433"/>
            <a:ext cx="5775158" cy="353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80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929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 Acharya</dc:creator>
  <cp:lastModifiedBy>Abir Acharya</cp:lastModifiedBy>
  <cp:revision>2</cp:revision>
  <dcterms:created xsi:type="dcterms:W3CDTF">2025-10-10T21:21:53Z</dcterms:created>
  <dcterms:modified xsi:type="dcterms:W3CDTF">2025-10-10T22:07:23Z</dcterms:modified>
</cp:coreProperties>
</file>